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b70c4c53-5af9-32be-4d50-ec19e0290041}">
          <p14:sldIdLst>
            <p14:sldId id="256"/>
          </p14:sldIdLst>
        </p14:section>
        <p14:section name="Contexto" id="{e45244bb-679e-c314-5e26-7330466d841b}">
          <p14:sldIdLst>
            <p14:sldId id="257"/>
            <p14:sldId id="258"/>
            <p14:sldId id="259"/>
          </p14:sldIdLst>
        </p14:section>
        <p14:section name="Requisitos" id="{982602b3-9845-41f3-b1a3-594c9d7f1edb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Evidências" id="{adab3070-bf6d-a340-7ca2-9f6de17bd197}">
          <p14:sldIdLst>
            <p14:sldId id="268"/>
            <p14:sldId id="269"/>
            <p14:sldId id="270"/>
            <p14:sldId id="271"/>
          </p14:sldIdLst>
        </p14:section>
        <p14:section name="Encerramento" id="{d216612f-82e3-b79a-2cc7-5a691b68a1fc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D3F6E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D3F6E"/>
                </a:solidFill>
                <a:latin typeface="+mn-lt"/>
              </a:rPr>
              <a:t>Verificações por grupo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Verificações</c:v>
                </c:pt>
              </c:strCache>
            </c:strRef>
          </c:tx>
          <c:spPr>
            <a:solidFill>
              <a:srgbClr val="1D3F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Autenticação</c:v>
                  </c:pt>
                  <c:pt idx="1">
                    <c:v>Entradas maliciosas</c:v>
                  </c:pt>
                  <c:pt idx="2">
                    <c:v>Abertura e votação</c:v>
                  </c:pt>
                  <c:pt idx="3">
                    <c:v>Corrida</c:v>
                  </c:pt>
                  <c:pt idx="4">
                    <c:v>Controle de acesso</c:v>
                  </c:pt>
                  <c:pt idx="5">
                    <c:v>Força bruta</c:v>
                  </c:pt>
                  <c:pt idx="6">
                    <c:v>Adulteração</c:v>
                  </c:pt>
                  <c:pt idx="7">
                    <c:v>Apuração e verificação</c:v>
                  </c:pt>
                  <c:pt idx="8">
                    <c:v>Trilha de auditoria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4</c:v>
                </c:pt>
                <c:pt idx="2">
                  <c:v>11</c:v>
                </c:pt>
                <c:pt idx="3">
                  <c:v>1</c:v>
                </c:pt>
                <c:pt idx="4">
                  <c:v>5</c:v>
                </c:pt>
                <c:pt idx="5">
                  <c:v>2</c:v>
                </c:pt>
                <c:pt idx="6">
                  <c:v>4</c:v>
                </c:pt>
                <c:pt idx="7">
                  <c:v>8</c:v>
                </c:pt>
                <c:pt idx="8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7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 trabalho pedia o software completo e a demonstração dos requisitos de segurança. Construímos a Urna Segura: front-end em React, API em Express 5 e MongoDB, seguindo o fluxograma do eleitor e a arquitetura em camadas que definimos. Durante a apresentação vamos mostrar cada requisito no código e, no fim, atacar o próprio sistema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do código, os objetivos. São cinco propriedades que o sistema precisa ter ao mesmo tempo, e algumas brigam entre si: sigilo exige que o voto não tenha dono, mas auditoria exige que ele possa ser conferido. Todo o desenho a seguir é para atender as cinco juntas. Azul é proteção do eleitor, verde é proteção do dado, laranja é transparência.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arquitetura é a mesma do diagrama de infraestrutura: cada camada barra um tipo de ataque. A borda cuida de transporte e abuso de volume. A API cuida de identidade e regras. A camada de dados guarda o voto de um jeito que adulteração fica evidente. Um detalhe importante: a proteção de rota no React é só conveniência de navegação; quem decide se você pode votar ou apurar é sempre o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fluxograma da conversa transformado em código. Os passos 1 a 7 acontecem para cada eleitor; o passo 4, em laranja, é o único que roda no navegador e é o que garante o sigilo. O passo 6, em verde, é o ledger replicado. Depois do encerramento vêm a apuração, o boletim e a verificação pública, que é a parte de auditoria que o TSE mais cobra.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matriz que guia o resto da apresentação: oito requisitos, o mecanismo que implementa cada um e a evidência de que ele funciona. A última coluna não é promessa: são verificações do teste automatizado que roda contra a API, e vamos repetir algumas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requisito: identidade. Senha sozinha vaza; por isso exigimos o segundo fator TOTP. O servidor guarda qual janela de 30 segundos já foi usada, então o mesmo código não serve duas vezes. Para senha usamos scrypt, que é propositalmente lento: cada tentativa de força bruta custa caro. E o erro é sempre 'usuário ou senha incorretos', no mesmo tempo, para não revelar quais títulos existem. Arquivos: server/src/crypto/senha.ts, totp.ts e routes/auth.ts.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Depois de autenticado, o eleitor recebe uma sessão de 10 minutos num cookie que o JavaScript não consegue ler. Isso significa que mesmo se alguém injetar um script na página, ele não leva o token. Contra CSRF temos três camadas: SameSite Strict, o token CSRF amarrado à sessão e a exigência de JSON. No teste, uma requisição sem o token volta 403, e um JWT forjado com alg none volta 401. Arquivo: server/src/middleware/seguranca.ts.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requisito central de sigilo. Quando o eleitor aperta CONFIRMA, o navegador gera uma chave AES nova, cifra a escolha com ela e envelopa essa chave com a chave pública RSA da eleição. O servidor só recebe o pacote cifrado, que aparece na lateral da cabine durante a demo. Nem o administrador do banco consegue ler um voto: a chave privada está cifrada com a frase-senha da Junta e só é aberta em memória na apuração. Arquivos: client/src/crypto.ts e server/src/crypto/chaves.ts.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está o conflito clássico: para impedir voto duplo, o sistema precisa saber quem votou; para garantir sigilo, não pode saber em quem. A solução é guardar só o fato de que o eleitor compareceu, um booleano, e nada que ligue esse registro ao bloco do voto. O teste de corrida foi revelador: na primeira versão, cinco cliques simultâneos geraram dois votos. Adicionamos a barreira do índice único, que é atômica no banco, e o teste passou a aceitar exatamente um. Arquivo: server/src/routes/votacao.ts.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ledger é uma blockchain simplificada e append-only: o código só faz INSERT, nunca UPDATE ou DELETE de voto. Cada bloco guarda o hash do anterior e é assinado com Ed25519. Simulamos o invasor mais esperto possível: ele cifra um voto válido para o candidato 77 e recalcula os hashes. Mesmo assim não consegue gerar a assinatura, e o próximo bloco aponta para o hash antigo. A violação fica matematicamente evidente. Arquivo: server/src/services/ledger.ts.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Redundância e tolerância a falhas. Cada nó representa um tribunal, e cada um pode estar num cluster MongoDB diferente bastando configurar a variável LEDGER_URI de cada nó. Um voto só existe quando dois dos três nós o gravaram. Quando um nó é adulterado, a auditoria o marca, a eleição continua com a maioria, e o reparo copia os blocos certos a partir do ponto de divergência. Na demo vamos mostrar exatamente esta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último requisito é o que dá confiança pública. O auditor tem acesso somente leitura e toda consulta dele também vai para a trilha. A trilha de eventos é encadeada e assinada como o ledger. Ao fim, o boletim é publicado com o hash final da cadeia, e qualquer pessoa, sem login, baixa a cadeia e refaz todos os hashes e assinaturas no próprio navegador. Se o boletim não bater com a cadeia, aparece em vermelho. Arquivos: services/auditoria.ts e client/src/pages/Transparencia.tsx.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basta dizer que é seguro: atacamos o sistema. Cada linha é um caso do script de teste, que manda a requisição maliciosa de verdade e confere a resposta. A coluna de resultado é o código HTTP ou o comportamento observado. O caso do voto trocado no banco é o que vamos repetir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script de teste roda 47 verificações contra a API em execução, em nove grupos, do login até a trilha de auditoria. Ele também serviu para achar defeitos: a corrida do voto duplo e uma falha na amostragem, que considerava conferido um bloco válido só na maioria. Os dois foram corrigidos e hoje tudo passa.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da demonstração, cerca de oito minutos. Antes: npm run seed e npm run dev. Para o código do autenticador de cada usuário: npm run token, dois traços e o login. Usuários: admin, auditor e eleitores 000000000001 a 000000000010. Senhas no README. No passo 5, rodar o comando no terminal enquanto a turma olha a tela da auditoria.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Sendo honestos sobre o que é simulação: aqui estão os pontos que um sistema real precisaria reforçar. Nenhum deles muda o desenho, só troca peças por versões de produção. O mais importante é dividir a chave da apuração entre vários membros da Junta, para que ninguém sozinho consiga abrir os votos.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Resumo em uma frase: o voto é secreto porque é cifrado no navegador, é íntegro porque está numa cadeia assinada e replicada, e é auditável porque qualquer pessoa pode refazer as contas. Abrimos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5852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54680"/>
            <a:ext cx="56692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Urna Segura — seminário de segurança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QUISIT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Urna Segura — seminário de segurança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600200" y="365760"/>
            <a:ext cx="100126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Urna Segura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5468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Requisitos de segurança de um sistema de votação eletrônica</a:t>
            </a:r>
            <a:endParaRPr lang="en-US" sz="20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 </a:t>
            </a:r>
            <a:endParaRPr lang="en-US" sz="2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React + Express 5 + MongoDB</a:t>
            </a:r>
            <a:endParaRPr lang="en-US" sz="2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Seminário de Segurança — Ciência da Computação</a:t>
            </a:r>
            <a:endParaRPr lang="en-US" sz="2000" dirty="0"/>
          </a:p>
        </p:txBody>
      </p:sp>
      <p:sp>
        <p:nvSpPr>
          <p:cNvPr id="4" name="urna-carcaca"/>
          <p:cNvSpPr/>
          <p:nvPr/>
        </p:nvSpPr>
        <p:spPr>
          <a:xfrm>
            <a:off x="7086600" y="1234440"/>
            <a:ext cx="4480560" cy="4206240"/>
          </a:xfrm>
          <a:prstGeom prst="roundRect">
            <a:avLst>
              <a:gd name="adj" fmla="val 5435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77800" dist="76200" dir="5400000">
              <a:srgbClr val="000000">
                <a:alpha val="40000"/>
              </a:srgbClr>
            </a:outerShdw>
          </a:effectLst>
        </p:spPr>
      </p:sp>
      <p:sp>
        <p:nvSpPr>
          <p:cNvPr id="5" name="urna-visor"/>
          <p:cNvSpPr/>
          <p:nvPr/>
        </p:nvSpPr>
        <p:spPr>
          <a:xfrm>
            <a:off x="7360920" y="1508760"/>
            <a:ext cx="3931920" cy="1417320"/>
          </a:xfrm>
          <a:prstGeom prst="rect">
            <a:avLst/>
          </a:prstGeom>
          <a:solidFill>
            <a:srgbClr val="F3F5EE"/>
          </a:solidFill>
          <a:ln w="50800">
            <a:solidFill>
              <a:srgbClr val="4A4A45"/>
            </a:solidFill>
            <a:prstDash val="solid"/>
          </a:ln>
        </p:spPr>
      </p:sp>
      <p:sp>
        <p:nvSpPr>
          <p:cNvPr id="6" name="urna-visor-texto"/>
          <p:cNvSpPr txBox="1"/>
          <p:nvPr/>
        </p:nvSpPr>
        <p:spPr>
          <a:xfrm>
            <a:off x="7543800" y="164592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Seu voto para</a:t>
            </a:r>
            <a:endParaRPr lang="en-US" sz="11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voto cifrado no navegador</a:t>
            </a:r>
            <a:endParaRPr lang="en-US" sz="1100" dirty="0"/>
          </a:p>
        </p:txBody>
      </p:sp>
      <p:sp>
        <p:nvSpPr>
          <p:cNvPr id="7" name="urna-teclado"/>
          <p:cNvSpPr/>
          <p:nvPr/>
        </p:nvSpPr>
        <p:spPr>
          <a:xfrm>
            <a:off x="7360920" y="310896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2C2D2B"/>
          </a:solidFill>
          <a:ln/>
        </p:spPr>
      </p:sp>
      <p:sp>
        <p:nvSpPr>
          <p:cNvPr id="8" name="tecla-1"/>
          <p:cNvSpPr txBox="1"/>
          <p:nvPr/>
        </p:nvSpPr>
        <p:spPr>
          <a:xfrm>
            <a:off x="7589520" y="3273552"/>
            <a:ext cx="548640" cy="347472"/>
          </a:xfrm>
          <a:prstGeom prst="roundRect">
            <a:avLst>
              <a:gd name="adj" fmla="val 21053"/>
            </a:avLst>
          </a:prstGeom>
          <a:solidFill>
            <a:srgbClr val="12131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cla-2"/>
          <p:cNvSpPr txBox="1"/>
          <p:nvPr/>
        </p:nvSpPr>
        <p:spPr>
          <a:xfrm>
            <a:off x="8247888" y="3273552"/>
            <a:ext cx="548640" cy="347472"/>
          </a:xfrm>
          <a:prstGeom prst="roundRect">
            <a:avLst>
              <a:gd name="adj" fmla="val 21053"/>
            </a:avLst>
          </a:prstGeom>
          <a:solidFill>
            <a:srgbClr val="12131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cla-3"/>
          <p:cNvSpPr txBox="1"/>
          <p:nvPr/>
        </p:nvSpPr>
        <p:spPr>
          <a:xfrm>
            <a:off x="8906256" y="3273552"/>
            <a:ext cx="548640" cy="347472"/>
          </a:xfrm>
          <a:prstGeom prst="roundRect">
            <a:avLst>
              <a:gd name="adj" fmla="val 21053"/>
            </a:avLst>
          </a:prstGeom>
          <a:solidFill>
            <a:srgbClr val="12131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cla-4"/>
          <p:cNvSpPr txBox="1"/>
          <p:nvPr/>
        </p:nvSpPr>
        <p:spPr>
          <a:xfrm>
            <a:off x="7589520" y="3730752"/>
            <a:ext cx="548640" cy="347472"/>
          </a:xfrm>
          <a:prstGeom prst="roundRect">
            <a:avLst>
              <a:gd name="adj" fmla="val 21053"/>
            </a:avLst>
          </a:prstGeom>
          <a:solidFill>
            <a:srgbClr val="12131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tecla-5"/>
          <p:cNvSpPr txBox="1"/>
          <p:nvPr/>
        </p:nvSpPr>
        <p:spPr>
          <a:xfrm>
            <a:off x="8247888" y="3730752"/>
            <a:ext cx="548640" cy="347472"/>
          </a:xfrm>
          <a:prstGeom prst="roundRect">
            <a:avLst>
              <a:gd name="adj" fmla="val 21053"/>
            </a:avLst>
          </a:prstGeom>
          <a:solidFill>
            <a:srgbClr val="12131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cla-6"/>
          <p:cNvSpPr txBox="1"/>
          <p:nvPr/>
        </p:nvSpPr>
        <p:spPr>
          <a:xfrm>
            <a:off x="8906256" y="3730752"/>
            <a:ext cx="548640" cy="347472"/>
          </a:xfrm>
          <a:prstGeom prst="roundRect">
            <a:avLst>
              <a:gd name="adj" fmla="val 21053"/>
            </a:avLst>
          </a:prstGeom>
          <a:solidFill>
            <a:srgbClr val="12131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14" name="tecla-7"/>
          <p:cNvSpPr txBox="1"/>
          <p:nvPr/>
        </p:nvSpPr>
        <p:spPr>
          <a:xfrm>
            <a:off x="7589520" y="4187952"/>
            <a:ext cx="548640" cy="347472"/>
          </a:xfrm>
          <a:prstGeom prst="roundRect">
            <a:avLst>
              <a:gd name="adj" fmla="val 21053"/>
            </a:avLst>
          </a:prstGeom>
          <a:solidFill>
            <a:srgbClr val="12131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15" name="tecla-8"/>
          <p:cNvSpPr txBox="1"/>
          <p:nvPr/>
        </p:nvSpPr>
        <p:spPr>
          <a:xfrm>
            <a:off x="8247888" y="4187952"/>
            <a:ext cx="548640" cy="347472"/>
          </a:xfrm>
          <a:prstGeom prst="roundRect">
            <a:avLst>
              <a:gd name="adj" fmla="val 21053"/>
            </a:avLst>
          </a:prstGeom>
          <a:solidFill>
            <a:srgbClr val="12131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16" name="tecla-9"/>
          <p:cNvSpPr txBox="1"/>
          <p:nvPr/>
        </p:nvSpPr>
        <p:spPr>
          <a:xfrm>
            <a:off x="8906256" y="4187952"/>
            <a:ext cx="548640" cy="347472"/>
          </a:xfrm>
          <a:prstGeom prst="roundRect">
            <a:avLst>
              <a:gd name="adj" fmla="val 21053"/>
            </a:avLst>
          </a:prstGeom>
          <a:solidFill>
            <a:srgbClr val="12131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17" name="tecla-10"/>
          <p:cNvSpPr txBox="1"/>
          <p:nvPr/>
        </p:nvSpPr>
        <p:spPr>
          <a:xfrm>
            <a:off x="9692640" y="4462272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F4F4F0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BRANCO</a:t>
            </a:r>
            <a:endParaRPr lang="en-US" sz="900" dirty="0"/>
          </a:p>
        </p:txBody>
      </p:sp>
      <p:sp>
        <p:nvSpPr>
          <p:cNvPr id="18" name="tecla-11"/>
          <p:cNvSpPr txBox="1"/>
          <p:nvPr/>
        </p:nvSpPr>
        <p:spPr>
          <a:xfrm>
            <a:off x="10469880" y="4462272"/>
            <a:ext cx="73152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CORRIGE</a:t>
            </a:r>
            <a:endParaRPr lang="en-US" sz="900" dirty="0"/>
          </a:p>
        </p:txBody>
      </p:sp>
      <p:sp>
        <p:nvSpPr>
          <p:cNvPr id="19" name="tecla-12"/>
          <p:cNvSpPr txBox="1"/>
          <p:nvPr/>
        </p:nvSpPr>
        <p:spPr>
          <a:xfrm>
            <a:off x="9692640" y="3749040"/>
            <a:ext cx="150876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</a:t>
            </a:r>
            <a:endParaRPr lang="en-US" sz="1200" dirty="0"/>
          </a:p>
        </p:txBody>
      </p:sp>
      <p:sp>
        <p:nvSpPr>
          <p:cNvPr id="20" name="tecla-13"/>
          <p:cNvSpPr txBox="1"/>
          <p:nvPr/>
        </p:nvSpPr>
        <p:spPr>
          <a:xfrm>
            <a:off x="8247888" y="4645152"/>
            <a:ext cx="548640" cy="347472"/>
          </a:xfrm>
          <a:prstGeom prst="roundRect">
            <a:avLst>
              <a:gd name="adj" fmla="val 21053"/>
            </a:avLst>
          </a:prstGeom>
          <a:solidFill>
            <a:srgbClr val="12131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 que uma eleição digital precisa garantir</a:t>
            </a:r>
            <a:endParaRPr lang="en-US" sz="3400" dirty="0"/>
          </a:p>
        </p:txBody>
      </p:sp>
      <p:sp>
        <p:nvSpPr>
          <p:cNvPr id="3" name="cartao-14"/>
          <p:cNvSpPr/>
          <p:nvPr/>
        </p:nvSpPr>
        <p:spPr>
          <a:xfrm>
            <a:off x="548640" y="1600200"/>
            <a:ext cx="2075688" cy="3017520"/>
          </a:xfrm>
          <a:prstGeom prst="roundRect">
            <a:avLst>
              <a:gd name="adj" fmla="val 4405"/>
            </a:avLst>
          </a:prstGeom>
          <a:solidFill>
            <a:schemeClr val="bg1"/>
          </a:solidFill>
          <a:ln w="9525">
            <a:solidFill>
              <a:srgbClr val="D3D8D2"/>
            </a:solidFill>
            <a:prstDash val="solid"/>
          </a:ln>
        </p:spPr>
      </p:sp>
      <p:sp>
        <p:nvSpPr>
          <p:cNvPr id="4" name="tecla-15"/>
          <p:cNvSpPr txBox="1"/>
          <p:nvPr/>
        </p:nvSpPr>
        <p:spPr>
          <a:xfrm>
            <a:off x="777240" y="1874520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o-16"/>
          <p:cNvSpPr txBox="1"/>
          <p:nvPr/>
        </p:nvSpPr>
        <p:spPr>
          <a:xfrm>
            <a:off x="777240" y="2651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Sigilo</a:t>
            </a:r>
            <a:endParaRPr lang="en-US" sz="1900" dirty="0"/>
          </a:p>
        </p:txBody>
      </p:sp>
      <p:sp>
        <p:nvSpPr>
          <p:cNvPr id="6" name="texto-17"/>
          <p:cNvSpPr txBox="1"/>
          <p:nvPr/>
        </p:nvSpPr>
        <p:spPr>
          <a:xfrm>
            <a:off x="777240" y="315468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Ninguém, nem o servidor, sabe em quem você votou</a:t>
            </a:r>
            <a:endParaRPr lang="en-US" sz="1500" dirty="0"/>
          </a:p>
        </p:txBody>
      </p:sp>
      <p:sp>
        <p:nvSpPr>
          <p:cNvPr id="7" name="cartao-18"/>
          <p:cNvSpPr/>
          <p:nvPr/>
        </p:nvSpPr>
        <p:spPr>
          <a:xfrm>
            <a:off x="2807208" y="1600200"/>
            <a:ext cx="2075688" cy="3017520"/>
          </a:xfrm>
          <a:prstGeom prst="roundRect">
            <a:avLst>
              <a:gd name="adj" fmla="val 4405"/>
            </a:avLst>
          </a:prstGeom>
          <a:solidFill>
            <a:schemeClr val="bg1"/>
          </a:solidFill>
          <a:ln w="9525">
            <a:solidFill>
              <a:srgbClr val="D3D8D2"/>
            </a:solidFill>
            <a:prstDash val="solid"/>
          </a:ln>
        </p:spPr>
      </p:sp>
      <p:sp>
        <p:nvSpPr>
          <p:cNvPr id="8" name="tecla-19"/>
          <p:cNvSpPr txBox="1"/>
          <p:nvPr/>
        </p:nvSpPr>
        <p:spPr>
          <a:xfrm>
            <a:off x="3035808" y="1874520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o-20"/>
          <p:cNvSpPr txBox="1"/>
          <p:nvPr/>
        </p:nvSpPr>
        <p:spPr>
          <a:xfrm>
            <a:off x="3035808" y="2651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Unicidade</a:t>
            </a:r>
            <a:endParaRPr lang="en-US" sz="1900" dirty="0"/>
          </a:p>
        </p:txBody>
      </p:sp>
      <p:sp>
        <p:nvSpPr>
          <p:cNvPr id="10" name="texto-21"/>
          <p:cNvSpPr txBox="1"/>
          <p:nvPr/>
        </p:nvSpPr>
        <p:spPr>
          <a:xfrm>
            <a:off x="3035808" y="315468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Cada eleitor vota uma única vez</a:t>
            </a:r>
            <a:endParaRPr lang="en-US" sz="1500" dirty="0"/>
          </a:p>
        </p:txBody>
      </p:sp>
      <p:sp>
        <p:nvSpPr>
          <p:cNvPr id="11" name="cartao-22"/>
          <p:cNvSpPr/>
          <p:nvPr/>
        </p:nvSpPr>
        <p:spPr>
          <a:xfrm>
            <a:off x="5065776" y="1600200"/>
            <a:ext cx="2075688" cy="3017520"/>
          </a:xfrm>
          <a:prstGeom prst="roundRect">
            <a:avLst>
              <a:gd name="adj" fmla="val 4405"/>
            </a:avLst>
          </a:prstGeom>
          <a:solidFill>
            <a:schemeClr val="bg1"/>
          </a:solidFill>
          <a:ln w="9525">
            <a:solidFill>
              <a:srgbClr val="D3D8D2"/>
            </a:solidFill>
            <a:prstDash val="solid"/>
          </a:ln>
        </p:spPr>
      </p:sp>
      <p:sp>
        <p:nvSpPr>
          <p:cNvPr id="12" name="tecla-23"/>
          <p:cNvSpPr txBox="1"/>
          <p:nvPr/>
        </p:nvSpPr>
        <p:spPr>
          <a:xfrm>
            <a:off x="5294376" y="1874520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o-24"/>
          <p:cNvSpPr txBox="1"/>
          <p:nvPr/>
        </p:nvSpPr>
        <p:spPr>
          <a:xfrm>
            <a:off x="5294376" y="2651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Integridade</a:t>
            </a:r>
            <a:endParaRPr lang="en-US" sz="1900" dirty="0"/>
          </a:p>
        </p:txBody>
      </p:sp>
      <p:sp>
        <p:nvSpPr>
          <p:cNvPr id="14" name="texto-25"/>
          <p:cNvSpPr txBox="1"/>
          <p:nvPr/>
        </p:nvSpPr>
        <p:spPr>
          <a:xfrm>
            <a:off x="5294376" y="315468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Nenhum voto muda sem que isso seja percebido</a:t>
            </a:r>
            <a:endParaRPr lang="en-US" sz="1500" dirty="0"/>
          </a:p>
        </p:txBody>
      </p:sp>
      <p:sp>
        <p:nvSpPr>
          <p:cNvPr id="15" name="cartao-26"/>
          <p:cNvSpPr/>
          <p:nvPr/>
        </p:nvSpPr>
        <p:spPr>
          <a:xfrm>
            <a:off x="7324344" y="1600200"/>
            <a:ext cx="2075688" cy="3017520"/>
          </a:xfrm>
          <a:prstGeom prst="roundRect">
            <a:avLst>
              <a:gd name="adj" fmla="val 4405"/>
            </a:avLst>
          </a:prstGeom>
          <a:solidFill>
            <a:schemeClr val="bg1"/>
          </a:solidFill>
          <a:ln w="9525">
            <a:solidFill>
              <a:srgbClr val="D3D8D2"/>
            </a:solidFill>
            <a:prstDash val="solid"/>
          </a:ln>
        </p:spPr>
      </p:sp>
      <p:sp>
        <p:nvSpPr>
          <p:cNvPr id="16" name="tecla-27"/>
          <p:cNvSpPr txBox="1"/>
          <p:nvPr/>
        </p:nvSpPr>
        <p:spPr>
          <a:xfrm>
            <a:off x="7552944" y="1874520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o-28"/>
          <p:cNvSpPr txBox="1"/>
          <p:nvPr/>
        </p:nvSpPr>
        <p:spPr>
          <a:xfrm>
            <a:off x="7552944" y="2651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Disponibilidade</a:t>
            </a:r>
            <a:endParaRPr lang="en-US" sz="1900" dirty="0"/>
          </a:p>
        </p:txBody>
      </p:sp>
      <p:sp>
        <p:nvSpPr>
          <p:cNvPr id="18" name="texto-29"/>
          <p:cNvSpPr txBox="1"/>
          <p:nvPr/>
        </p:nvSpPr>
        <p:spPr>
          <a:xfrm>
            <a:off x="7552944" y="315468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falha de um servidor não para a eleição</a:t>
            </a:r>
            <a:endParaRPr lang="en-US" sz="1500" dirty="0"/>
          </a:p>
        </p:txBody>
      </p:sp>
      <p:sp>
        <p:nvSpPr>
          <p:cNvPr id="19" name="cartao-30"/>
          <p:cNvSpPr/>
          <p:nvPr/>
        </p:nvSpPr>
        <p:spPr>
          <a:xfrm>
            <a:off x="9582912" y="1600200"/>
            <a:ext cx="2075688" cy="3017520"/>
          </a:xfrm>
          <a:prstGeom prst="roundRect">
            <a:avLst>
              <a:gd name="adj" fmla="val 4405"/>
            </a:avLst>
          </a:prstGeom>
          <a:solidFill>
            <a:schemeClr val="bg1"/>
          </a:solidFill>
          <a:ln w="9525">
            <a:solidFill>
              <a:srgbClr val="D3D8D2"/>
            </a:solidFill>
            <a:prstDash val="solid"/>
          </a:ln>
        </p:spPr>
      </p:sp>
      <p:sp>
        <p:nvSpPr>
          <p:cNvPr id="20" name="tecla-31"/>
          <p:cNvSpPr txBox="1"/>
          <p:nvPr/>
        </p:nvSpPr>
        <p:spPr>
          <a:xfrm>
            <a:off x="9811512" y="1874520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o-32"/>
          <p:cNvSpPr txBox="1"/>
          <p:nvPr/>
        </p:nvSpPr>
        <p:spPr>
          <a:xfrm>
            <a:off x="9811512" y="2651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Auditabilidade</a:t>
            </a:r>
            <a:endParaRPr lang="en-US" sz="1900" dirty="0"/>
          </a:p>
        </p:txBody>
      </p:sp>
      <p:sp>
        <p:nvSpPr>
          <p:cNvPr id="22" name="texto-33"/>
          <p:cNvSpPr txBox="1"/>
          <p:nvPr/>
        </p:nvSpPr>
        <p:spPr>
          <a:xfrm>
            <a:off x="9811512" y="315468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Qualquer pessoa confere o resultado</a:t>
            </a:r>
            <a:endParaRPr lang="en-US" sz="1500" dirty="0"/>
          </a:p>
        </p:txBody>
      </p:sp>
      <p:sp>
        <p:nvSpPr>
          <p:cNvPr id="23" name="texto-34"/>
          <p:cNvSpPr txBox="1"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Base: diretrizes de segurança e auditoria do TSE para as Eleições 2026 (urna, totalização e fiscalização pública).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Arquitetura em camadas</a:t>
            </a:r>
            <a:endParaRPr lang="en-US" sz="3400" dirty="0"/>
          </a:p>
        </p:txBody>
      </p:sp>
      <p:sp>
        <p:nvSpPr>
          <p:cNvPr id="3" name="cartao-35"/>
          <p:cNvSpPr/>
          <p:nvPr/>
        </p:nvSpPr>
        <p:spPr>
          <a:xfrm>
            <a:off x="548640" y="1554480"/>
            <a:ext cx="2514600" cy="36118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D3D8D2"/>
            </a:solidFill>
            <a:prstDash val="solid"/>
          </a:ln>
        </p:spPr>
      </p:sp>
      <p:sp>
        <p:nvSpPr>
          <p:cNvPr id="4" name="cabeca-36"/>
          <p:cNvSpPr/>
          <p:nvPr/>
        </p:nvSpPr>
        <p:spPr>
          <a:xfrm>
            <a:off x="548640" y="1554480"/>
            <a:ext cx="2514600" cy="960120"/>
          </a:xfrm>
          <a:prstGeom prst="roundRect">
            <a:avLst>
              <a:gd name="adj" fmla="val 9524"/>
            </a:avLst>
          </a:prstGeom>
          <a:solidFill>
            <a:schemeClr val="accent3"/>
          </a:solidFill>
          <a:ln/>
        </p:spPr>
      </p:sp>
      <p:sp>
        <p:nvSpPr>
          <p:cNvPr id="5" name="texto-37"/>
          <p:cNvSpPr txBox="1"/>
          <p:nvPr/>
        </p:nvSpPr>
        <p:spPr>
          <a:xfrm>
            <a:off x="777240" y="166420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Navegador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React 19</a:t>
            </a:r>
            <a:endParaRPr lang="en-US" sz="1600" dirty="0"/>
          </a:p>
        </p:txBody>
      </p:sp>
      <p:sp>
        <p:nvSpPr>
          <p:cNvPr id="6" name="texto-38"/>
          <p:cNvSpPr txBox="1"/>
          <p:nvPr/>
        </p:nvSpPr>
        <p:spPr>
          <a:xfrm>
            <a:off x="731520" y="27432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Cifra o voto antes de enviar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Verifica a cadeia e o boletim por conta própria</a:t>
            </a:r>
            <a:endParaRPr lang="en-US" sz="1500" dirty="0"/>
          </a:p>
        </p:txBody>
      </p:sp>
      <p:sp>
        <p:nvSpPr>
          <p:cNvPr id="7" name="seta-39"/>
          <p:cNvSpPr/>
          <p:nvPr/>
        </p:nvSpPr>
        <p:spPr>
          <a:xfrm>
            <a:off x="3090672" y="3337560"/>
            <a:ext cx="329184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cartao-40"/>
          <p:cNvSpPr/>
          <p:nvPr/>
        </p:nvSpPr>
        <p:spPr>
          <a:xfrm>
            <a:off x="3447288" y="1554480"/>
            <a:ext cx="2514600" cy="36118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D3D8D2"/>
            </a:solidFill>
            <a:prstDash val="solid"/>
          </a:ln>
        </p:spPr>
      </p:sp>
      <p:sp>
        <p:nvSpPr>
          <p:cNvPr id="9" name="cabeca-41"/>
          <p:cNvSpPr/>
          <p:nvPr/>
        </p:nvSpPr>
        <p:spPr>
          <a:xfrm>
            <a:off x="3447288" y="1554480"/>
            <a:ext cx="2514600" cy="960120"/>
          </a:xfrm>
          <a:prstGeom prst="roundRect">
            <a:avLst>
              <a:gd name="adj" fmla="val 9524"/>
            </a:avLst>
          </a:prstGeom>
          <a:solidFill>
            <a:schemeClr val="accent6"/>
          </a:solidFill>
          <a:ln/>
        </p:spPr>
      </p:sp>
      <p:sp>
        <p:nvSpPr>
          <p:cNvPr id="10" name="texto-42"/>
          <p:cNvSpPr txBox="1"/>
          <p:nvPr/>
        </p:nvSpPr>
        <p:spPr>
          <a:xfrm>
            <a:off x="3675888" y="166420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Borda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HTTPS + Helmet</a:t>
            </a:r>
            <a:endParaRPr lang="en-US" sz="1600" dirty="0"/>
          </a:p>
        </p:txBody>
      </p:sp>
      <p:sp>
        <p:nvSpPr>
          <p:cNvPr id="11" name="texto-43"/>
          <p:cNvSpPr txBox="1"/>
          <p:nvPr/>
        </p:nvSpPr>
        <p:spPr>
          <a:xfrm>
            <a:off x="3630168" y="27432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HSTS e cookies Secure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CSP, anti-clickjacking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Rate limit por IP</a:t>
            </a:r>
            <a:endParaRPr lang="en-US" sz="1500" dirty="0"/>
          </a:p>
        </p:txBody>
      </p:sp>
      <p:sp>
        <p:nvSpPr>
          <p:cNvPr id="12" name="seta-44"/>
          <p:cNvSpPr/>
          <p:nvPr/>
        </p:nvSpPr>
        <p:spPr>
          <a:xfrm>
            <a:off x="5989320" y="3337560"/>
            <a:ext cx="329184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cartao-45"/>
          <p:cNvSpPr/>
          <p:nvPr/>
        </p:nvSpPr>
        <p:spPr>
          <a:xfrm>
            <a:off x="6345936" y="1554480"/>
            <a:ext cx="2514600" cy="36118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D3D8D2"/>
            </a:solidFill>
            <a:prstDash val="solid"/>
          </a:ln>
        </p:spPr>
      </p:sp>
      <p:sp>
        <p:nvSpPr>
          <p:cNvPr id="14" name="cabeca-46"/>
          <p:cNvSpPr/>
          <p:nvPr/>
        </p:nvSpPr>
        <p:spPr>
          <a:xfrm>
            <a:off x="6345936" y="1554480"/>
            <a:ext cx="2514600" cy="960120"/>
          </a:xfrm>
          <a:prstGeom prst="roundRect">
            <a:avLst>
              <a:gd name="adj" fmla="val 9524"/>
            </a:avLst>
          </a:prstGeom>
          <a:solidFill>
            <a:schemeClr val="accent1"/>
          </a:solidFill>
          <a:ln/>
        </p:spPr>
      </p:sp>
      <p:sp>
        <p:nvSpPr>
          <p:cNvPr id="15" name="texto-47"/>
          <p:cNvSpPr txBox="1"/>
          <p:nvPr/>
        </p:nvSpPr>
        <p:spPr>
          <a:xfrm>
            <a:off x="6574536" y="166420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API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Express 5 + TypeScript</a:t>
            </a:r>
            <a:endParaRPr lang="en-US" sz="1600" dirty="0"/>
          </a:p>
        </p:txBody>
      </p:sp>
      <p:sp>
        <p:nvSpPr>
          <p:cNvPr id="16" name="texto-48"/>
          <p:cNvSpPr txBox="1"/>
          <p:nvPr/>
        </p:nvSpPr>
        <p:spPr>
          <a:xfrm>
            <a:off x="6528816" y="27432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Senha + TOTP, JWT curto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CSRF, validação Zod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Todas as regras de negócio</a:t>
            </a:r>
            <a:endParaRPr lang="en-US" sz="1500" dirty="0"/>
          </a:p>
        </p:txBody>
      </p:sp>
      <p:sp>
        <p:nvSpPr>
          <p:cNvPr id="17" name="seta-49"/>
          <p:cNvSpPr/>
          <p:nvPr/>
        </p:nvSpPr>
        <p:spPr>
          <a:xfrm>
            <a:off x="8887968" y="3337560"/>
            <a:ext cx="329184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cartao-50"/>
          <p:cNvSpPr/>
          <p:nvPr/>
        </p:nvSpPr>
        <p:spPr>
          <a:xfrm>
            <a:off x="9244584" y="1554480"/>
            <a:ext cx="2514600" cy="36118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D3D8D2"/>
            </a:solidFill>
            <a:prstDash val="solid"/>
          </a:ln>
        </p:spPr>
      </p:sp>
      <p:sp>
        <p:nvSpPr>
          <p:cNvPr id="19" name="cabeca-51"/>
          <p:cNvSpPr/>
          <p:nvPr/>
        </p:nvSpPr>
        <p:spPr>
          <a:xfrm>
            <a:off x="9244584" y="1554480"/>
            <a:ext cx="2514600" cy="960120"/>
          </a:xfrm>
          <a:prstGeom prst="roundRect">
            <a:avLst>
              <a:gd name="adj" fmla="val 9524"/>
            </a:avLst>
          </a:prstGeom>
          <a:solidFill>
            <a:schemeClr val="accent2"/>
          </a:solidFill>
          <a:ln/>
        </p:spPr>
      </p:sp>
      <p:sp>
        <p:nvSpPr>
          <p:cNvPr id="20" name="texto-52"/>
          <p:cNvSpPr txBox="1"/>
          <p:nvPr/>
        </p:nvSpPr>
        <p:spPr>
          <a:xfrm>
            <a:off x="9473184" y="166420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Dados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MongoDB</a:t>
            </a:r>
            <a:endParaRPr lang="en-US" sz="1600" dirty="0"/>
          </a:p>
        </p:txBody>
      </p:sp>
      <p:sp>
        <p:nvSpPr>
          <p:cNvPr id="21" name="texto-53"/>
          <p:cNvSpPr txBox="1"/>
          <p:nvPr/>
        </p:nvSpPr>
        <p:spPr>
          <a:xfrm>
            <a:off x="9427464" y="27432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Cadastro e trilha de auditoria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Ledger em 3 nós: TSE, TRE-SC, TRE-SP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Confirmação por maioria</a:t>
            </a:r>
            <a:endParaRPr lang="en-US" sz="1500" dirty="0"/>
          </a:p>
        </p:txBody>
      </p:sp>
      <p:sp>
        <p:nvSpPr>
          <p:cNvPr id="22" name="cartao-54"/>
          <p:cNvSpPr/>
          <p:nvPr/>
        </p:nvSpPr>
        <p:spPr>
          <a:xfrm>
            <a:off x="548640" y="5394960"/>
            <a:ext cx="1106424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9525">
            <a:solidFill>
              <a:srgbClr val="D3D8D2"/>
            </a:solidFill>
            <a:prstDash val="solid"/>
          </a:ln>
        </p:spPr>
      </p:sp>
      <p:sp>
        <p:nvSpPr>
          <p:cNvPr id="23" name="texto-55"/>
          <p:cNvSpPr txBox="1"/>
          <p:nvPr/>
        </p:nvSpPr>
        <p:spPr>
          <a:xfrm>
            <a:off x="777240" y="546811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Princípio: o front-end só coleta e exibe. Toda decisão de segurança é tomada no backend, que não confia no navegador.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Do clique ao boletim: o fluxo do voto</a:t>
            </a:r>
            <a:endParaRPr lang="en-US" sz="3400" dirty="0"/>
          </a:p>
        </p:txBody>
      </p:sp>
      <p:sp>
        <p:nvSpPr>
          <p:cNvPr id="3" name="tecla-56"/>
          <p:cNvSpPr txBox="1"/>
          <p:nvPr/>
        </p:nvSpPr>
        <p:spPr>
          <a:xfrm>
            <a:off x="978408" y="1691640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o-57"/>
          <p:cNvSpPr txBox="1"/>
          <p:nvPr/>
        </p:nvSpPr>
        <p:spPr>
          <a:xfrm>
            <a:off x="548640" y="24231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Senha</a:t>
            </a:r>
            <a:endParaRPr lang="en-US" sz="1600" dirty="0"/>
          </a:p>
        </p:txBody>
      </p:sp>
      <p:sp>
        <p:nvSpPr>
          <p:cNvPr id="5" name="texto-58"/>
          <p:cNvSpPr txBox="1"/>
          <p:nvPr/>
        </p:nvSpPr>
        <p:spPr>
          <a:xfrm>
            <a:off x="548640" y="27889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scrypt</a:t>
            </a:r>
            <a:endParaRPr lang="en-US" sz="1400" dirty="0"/>
          </a:p>
        </p:txBody>
      </p:sp>
      <p:sp>
        <p:nvSpPr>
          <p:cNvPr id="6" name="seta-59"/>
          <p:cNvSpPr/>
          <p:nvPr/>
        </p:nvSpPr>
        <p:spPr>
          <a:xfrm>
            <a:off x="1627632" y="1938528"/>
            <a:ext cx="896112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" name="tecla-60"/>
          <p:cNvSpPr txBox="1"/>
          <p:nvPr/>
        </p:nvSpPr>
        <p:spPr>
          <a:xfrm>
            <a:off x="2596896" y="1691640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o-61"/>
          <p:cNvSpPr txBox="1"/>
          <p:nvPr/>
        </p:nvSpPr>
        <p:spPr>
          <a:xfrm>
            <a:off x="2167128" y="24231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Código TOTP</a:t>
            </a:r>
            <a:endParaRPr lang="en-US" sz="1600" dirty="0"/>
          </a:p>
        </p:txBody>
      </p:sp>
      <p:sp>
        <p:nvSpPr>
          <p:cNvPr id="9" name="texto-62"/>
          <p:cNvSpPr txBox="1"/>
          <p:nvPr/>
        </p:nvSpPr>
        <p:spPr>
          <a:xfrm>
            <a:off x="2167128" y="27889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2º fator</a:t>
            </a:r>
            <a:endParaRPr lang="en-US" sz="1400" dirty="0"/>
          </a:p>
        </p:txBody>
      </p:sp>
      <p:sp>
        <p:nvSpPr>
          <p:cNvPr id="10" name="seta-63"/>
          <p:cNvSpPr/>
          <p:nvPr/>
        </p:nvSpPr>
        <p:spPr>
          <a:xfrm>
            <a:off x="3246120" y="1938528"/>
            <a:ext cx="896112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tecla-64"/>
          <p:cNvSpPr txBox="1"/>
          <p:nvPr/>
        </p:nvSpPr>
        <p:spPr>
          <a:xfrm>
            <a:off x="4215384" y="1691640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o-65"/>
          <p:cNvSpPr txBox="1"/>
          <p:nvPr/>
        </p:nvSpPr>
        <p:spPr>
          <a:xfrm>
            <a:off x="3785616" y="24231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Cabine</a:t>
            </a:r>
            <a:endParaRPr lang="en-US" sz="1600" dirty="0"/>
          </a:p>
        </p:txBody>
      </p:sp>
      <p:sp>
        <p:nvSpPr>
          <p:cNvPr id="13" name="texto-66"/>
          <p:cNvSpPr txBox="1"/>
          <p:nvPr/>
        </p:nvSpPr>
        <p:spPr>
          <a:xfrm>
            <a:off x="3785616" y="27889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escolha</a:t>
            </a:r>
            <a:endParaRPr lang="en-US" sz="1400" dirty="0"/>
          </a:p>
        </p:txBody>
      </p:sp>
      <p:sp>
        <p:nvSpPr>
          <p:cNvPr id="14" name="seta-67"/>
          <p:cNvSpPr/>
          <p:nvPr/>
        </p:nvSpPr>
        <p:spPr>
          <a:xfrm>
            <a:off x="4864608" y="1938528"/>
            <a:ext cx="896112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tecla-68"/>
          <p:cNvSpPr txBox="1"/>
          <p:nvPr/>
        </p:nvSpPr>
        <p:spPr>
          <a:xfrm>
            <a:off x="5833872" y="1691640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o-69"/>
          <p:cNvSpPr txBox="1"/>
          <p:nvPr/>
        </p:nvSpPr>
        <p:spPr>
          <a:xfrm>
            <a:off x="5404104" y="24231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Cifra</a:t>
            </a:r>
            <a:endParaRPr lang="en-US" sz="1600" dirty="0"/>
          </a:p>
        </p:txBody>
      </p:sp>
      <p:sp>
        <p:nvSpPr>
          <p:cNvPr id="17" name="texto-70"/>
          <p:cNvSpPr txBox="1"/>
          <p:nvPr/>
        </p:nvSpPr>
        <p:spPr>
          <a:xfrm>
            <a:off x="5404104" y="27889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no navegador</a:t>
            </a:r>
            <a:endParaRPr lang="en-US" sz="1400" dirty="0"/>
          </a:p>
        </p:txBody>
      </p:sp>
      <p:sp>
        <p:nvSpPr>
          <p:cNvPr id="18" name="seta-71"/>
          <p:cNvSpPr/>
          <p:nvPr/>
        </p:nvSpPr>
        <p:spPr>
          <a:xfrm>
            <a:off x="6483096" y="1938528"/>
            <a:ext cx="896112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tecla-72"/>
          <p:cNvSpPr txBox="1"/>
          <p:nvPr/>
        </p:nvSpPr>
        <p:spPr>
          <a:xfrm>
            <a:off x="7452360" y="1691640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o-73"/>
          <p:cNvSpPr txBox="1"/>
          <p:nvPr/>
        </p:nvSpPr>
        <p:spPr>
          <a:xfrm>
            <a:off x="7022592" y="24231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API valida</a:t>
            </a:r>
            <a:endParaRPr lang="en-US" sz="1600" dirty="0"/>
          </a:p>
        </p:txBody>
      </p:sp>
      <p:sp>
        <p:nvSpPr>
          <p:cNvPr id="21" name="texto-74"/>
          <p:cNvSpPr txBox="1"/>
          <p:nvPr/>
        </p:nvSpPr>
        <p:spPr>
          <a:xfrm>
            <a:off x="7022592" y="27889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voto único</a:t>
            </a:r>
            <a:endParaRPr lang="en-US" sz="1400" dirty="0"/>
          </a:p>
        </p:txBody>
      </p:sp>
      <p:sp>
        <p:nvSpPr>
          <p:cNvPr id="22" name="seta-75"/>
          <p:cNvSpPr/>
          <p:nvPr/>
        </p:nvSpPr>
        <p:spPr>
          <a:xfrm>
            <a:off x="8101584" y="1938528"/>
            <a:ext cx="896112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tecla-76"/>
          <p:cNvSpPr txBox="1"/>
          <p:nvPr/>
        </p:nvSpPr>
        <p:spPr>
          <a:xfrm>
            <a:off x="9070848" y="1691640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4" name="texto-77"/>
          <p:cNvSpPr txBox="1"/>
          <p:nvPr/>
        </p:nvSpPr>
        <p:spPr>
          <a:xfrm>
            <a:off x="8641080" y="24231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Ledger</a:t>
            </a:r>
            <a:endParaRPr lang="en-US" sz="1600" dirty="0"/>
          </a:p>
        </p:txBody>
      </p:sp>
      <p:sp>
        <p:nvSpPr>
          <p:cNvPr id="25" name="texto-78"/>
          <p:cNvSpPr txBox="1"/>
          <p:nvPr/>
        </p:nvSpPr>
        <p:spPr>
          <a:xfrm>
            <a:off x="8641080" y="27889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3 nós, quórum 2</a:t>
            </a:r>
            <a:endParaRPr lang="en-US" sz="1400" dirty="0"/>
          </a:p>
        </p:txBody>
      </p:sp>
      <p:sp>
        <p:nvSpPr>
          <p:cNvPr id="26" name="seta-79"/>
          <p:cNvSpPr/>
          <p:nvPr/>
        </p:nvSpPr>
        <p:spPr>
          <a:xfrm>
            <a:off x="9720072" y="1938528"/>
            <a:ext cx="896112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7" name="tecla-80"/>
          <p:cNvSpPr txBox="1"/>
          <p:nvPr/>
        </p:nvSpPr>
        <p:spPr>
          <a:xfrm>
            <a:off x="10689336" y="1691640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28" name="texto-81"/>
          <p:cNvSpPr txBox="1"/>
          <p:nvPr/>
        </p:nvSpPr>
        <p:spPr>
          <a:xfrm>
            <a:off x="10259568" y="242316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Comprovante</a:t>
            </a:r>
            <a:endParaRPr lang="en-US" sz="1600" dirty="0"/>
          </a:p>
        </p:txBody>
      </p:sp>
      <p:sp>
        <p:nvSpPr>
          <p:cNvPr id="29" name="texto-82"/>
          <p:cNvSpPr txBox="1"/>
          <p:nvPr/>
        </p:nvSpPr>
        <p:spPr>
          <a:xfrm>
            <a:off x="10259568" y="27889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sessão encerrada</a:t>
            </a:r>
            <a:endParaRPr lang="en-US" sz="1400" dirty="0"/>
          </a:p>
        </p:txBody>
      </p:sp>
      <p:sp>
        <p:nvSpPr>
          <p:cNvPr id="30" name="cartao-83"/>
          <p:cNvSpPr/>
          <p:nvPr/>
        </p:nvSpPr>
        <p:spPr>
          <a:xfrm>
            <a:off x="548640" y="3703320"/>
            <a:ext cx="11064240" cy="18288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3D8D2"/>
            </a:solidFill>
            <a:prstDash val="solid"/>
          </a:ln>
        </p:spPr>
      </p:sp>
      <p:sp>
        <p:nvSpPr>
          <p:cNvPr id="31" name="texto-84"/>
          <p:cNvSpPr txBox="1"/>
          <p:nvPr/>
        </p:nvSpPr>
        <p:spPr>
          <a:xfrm>
            <a:off x="82296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Depois do encerramento</a:t>
            </a:r>
            <a:endParaRPr lang="en-US" sz="1800" dirty="0"/>
          </a:p>
        </p:txBody>
      </p:sp>
      <p:sp>
        <p:nvSpPr>
          <p:cNvPr id="32" name="tecla-85"/>
          <p:cNvSpPr txBox="1"/>
          <p:nvPr/>
        </p:nvSpPr>
        <p:spPr>
          <a:xfrm>
            <a:off x="822960" y="4526280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33" name="texto-86"/>
          <p:cNvSpPr txBox="1"/>
          <p:nvPr/>
        </p:nvSpPr>
        <p:spPr>
          <a:xfrm>
            <a:off x="1554480" y="4480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Junta apura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abre a chave com a frase-senha</a:t>
            </a:r>
            <a:endParaRPr lang="en-US" sz="1600" dirty="0"/>
          </a:p>
        </p:txBody>
      </p:sp>
      <p:sp>
        <p:nvSpPr>
          <p:cNvPr id="34" name="seta-87"/>
          <p:cNvSpPr/>
          <p:nvPr/>
        </p:nvSpPr>
        <p:spPr>
          <a:xfrm>
            <a:off x="3886200" y="4773168"/>
            <a:ext cx="457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5" name="tecla-88"/>
          <p:cNvSpPr txBox="1"/>
          <p:nvPr/>
        </p:nvSpPr>
        <p:spPr>
          <a:xfrm>
            <a:off x="4434840" y="4526280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36" name="texto-89"/>
          <p:cNvSpPr txBox="1"/>
          <p:nvPr/>
        </p:nvSpPr>
        <p:spPr>
          <a:xfrm>
            <a:off x="5166360" y="4480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Boletim assinado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com o hash final da cadeia</a:t>
            </a:r>
            <a:endParaRPr lang="en-US" sz="1600" dirty="0"/>
          </a:p>
        </p:txBody>
      </p:sp>
      <p:sp>
        <p:nvSpPr>
          <p:cNvPr id="37" name="seta-90"/>
          <p:cNvSpPr/>
          <p:nvPr/>
        </p:nvSpPr>
        <p:spPr>
          <a:xfrm>
            <a:off x="7498080" y="4773168"/>
            <a:ext cx="457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8" name="tecla-91"/>
          <p:cNvSpPr txBox="1"/>
          <p:nvPr/>
        </p:nvSpPr>
        <p:spPr>
          <a:xfrm>
            <a:off x="8046720" y="4526280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39" name="texto-92"/>
          <p:cNvSpPr txBox="1"/>
          <p:nvPr/>
        </p:nvSpPr>
        <p:spPr>
          <a:xfrm>
            <a:off x="8778240" y="4480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Verificação pública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qualquer um refaz as contas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Matriz de requisitos de segurança</a:t>
            </a:r>
            <a:endParaRPr lang="en-US" sz="3400" dirty="0"/>
          </a:p>
        </p:txBody>
      </p:sp>
      <p:graphicFrame>
        <p:nvGraphicFramePr>
          <p:cNvPr id="6" name="matriz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377440"/>
                <a:gridCol w="4206240"/>
                <a:gridCol w="3931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Mecanismo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provamos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Autenticação forte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Senha scrypt + TOTP, bloqueio após 5 erros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sem TOTP → 401; 6ª senha errada → 429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Sessão e CSRF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de 10 min em cookie httpOnly/SameSite, token CSRF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token → 403; JWT alg=none → 401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Sigilo do voto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AES-256-GCM + RSA-OAEP-3072 no navegador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 recebe só texto cifrado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Voto único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 único + troca condicional atômica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envios simultâneos → 1 aceito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Anonimato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 vínculo gravado entre eleitor e voto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Trilha sem identidade nem IP no voto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encadeado SHA-256 + assinatura Ed25519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Voto trocado no banco é detectado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Redundância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nós, confirmação por maioria, reparo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Nó adulterado isolado e restaurado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Auditoria e transparência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Trilha assinada, amostragem, verificação pública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Boletim confere com a cadeia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cla-93"/>
          <p:cNvSpPr txBox="1"/>
          <p:nvPr/>
        </p:nvSpPr>
        <p:spPr>
          <a:xfrm>
            <a:off x="548640" y="429768"/>
            <a:ext cx="868680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2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600200" y="365760"/>
            <a:ext cx="10012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Autenticação em dois fatores</a:t>
            </a:r>
            <a:endParaRPr lang="en-US" sz="3400" dirty="0"/>
          </a:p>
        </p:txBody>
      </p:sp>
      <p:sp>
        <p:nvSpPr>
          <p:cNvPr id="4" name="texto-94"/>
          <p:cNvSpPr txBox="1"/>
          <p:nvPr/>
        </p:nvSpPr>
        <p:spPr>
          <a:xfrm>
            <a:off x="548640" y="150876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Algo que você sabe: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senha guardada com scrypt (lento e caro em memória) e sal único por usuário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Algo que você tem: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código TOTP de 6 dígitos (RFC 6238), igual ao Google Authenticator; cada código vale uma vez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Força bruta: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5 erros bloqueiam a conta por 15 min, mais limite de tentativas por IP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Anti-enumeração: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mesma mensagem e mesmo tempo de resposta para usuário inexistente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Segredos TOTP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cifrados em repouso com AES-256-GCM</a:t>
            </a:r>
            <a:endParaRPr lang="en-US" sz="1600" dirty="0"/>
          </a:p>
        </p:txBody>
      </p:sp>
      <p:sp>
        <p:nvSpPr>
          <p:cNvPr id="5" name="moldura-95"/>
          <p:cNvSpPr/>
          <p:nvPr/>
        </p:nvSpPr>
        <p:spPr>
          <a:xfrm>
            <a:off x="7050024" y="1517904"/>
            <a:ext cx="4553712" cy="3426154"/>
          </a:xfrm>
          <a:prstGeom prst="rect">
            <a:avLst/>
          </a:prstGeom>
          <a:solidFill>
            <a:schemeClr val="bg1"/>
          </a:solidFill>
          <a:ln w="9525">
            <a:solidFill>
              <a:srgbClr val="C9CEC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captura-96" descr="mf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554480"/>
            <a:ext cx="4480560" cy="3353002"/>
          </a:xfrm>
          <a:prstGeom prst="rect">
            <a:avLst/>
          </a:prstGeom>
        </p:spPr>
      </p:pic>
      <p:sp>
        <p:nvSpPr>
          <p:cNvPr id="7" name="texto-97"/>
          <p:cNvSpPr txBox="1"/>
          <p:nvPr/>
        </p:nvSpPr>
        <p:spPr>
          <a:xfrm>
            <a:off x="7086600" y="5074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Tela real do sistema: segunda etapa do login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cla-98"/>
          <p:cNvSpPr txBox="1"/>
          <p:nvPr/>
        </p:nvSpPr>
        <p:spPr>
          <a:xfrm>
            <a:off x="548640" y="429768"/>
            <a:ext cx="868680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2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600200" y="365760"/>
            <a:ext cx="10012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Sessão curta e proteção contra CSRF</a:t>
            </a:r>
            <a:endParaRPr lang="en-US" sz="3400" dirty="0"/>
          </a:p>
        </p:txBody>
      </p:sp>
      <p:sp>
        <p:nvSpPr>
          <p:cNvPr id="4" name="texto-99"/>
          <p:cNvSpPr txBox="1"/>
          <p:nvPr/>
        </p:nvSpPr>
        <p:spPr>
          <a:xfrm>
            <a:off x="548640" y="1463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cookie de sessão</a:t>
            </a:r>
            <a:endParaRPr lang="en-US" sz="2000" dirty="0"/>
          </a:p>
        </p:txBody>
      </p:sp>
      <p:sp>
        <p:nvSpPr>
          <p:cNvPr id="5" name="tecla-100"/>
          <p:cNvSpPr txBox="1"/>
          <p:nvPr/>
        </p:nvSpPr>
        <p:spPr>
          <a:xfrm>
            <a:off x="548640" y="2057400"/>
            <a:ext cx="141732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httpOnly</a:t>
            </a:r>
            <a:endParaRPr lang="en-US" sz="1400" dirty="0"/>
          </a:p>
        </p:txBody>
      </p:sp>
      <p:sp>
        <p:nvSpPr>
          <p:cNvPr id="6" name="texto-101"/>
          <p:cNvSpPr txBox="1"/>
          <p:nvPr/>
        </p:nvSpPr>
        <p:spPr>
          <a:xfrm>
            <a:off x="2194560" y="2057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JavaScript da página não lê: XSS não rouba a sessão</a:t>
            </a:r>
            <a:endParaRPr lang="en-US" sz="1600" dirty="0"/>
          </a:p>
        </p:txBody>
      </p:sp>
      <p:sp>
        <p:nvSpPr>
          <p:cNvPr id="7" name="tecla-102"/>
          <p:cNvSpPr txBox="1"/>
          <p:nvPr/>
        </p:nvSpPr>
        <p:spPr>
          <a:xfrm>
            <a:off x="548640" y="2926080"/>
            <a:ext cx="141732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</a:t>
            </a:r>
            <a:endParaRPr lang="en-US" sz="1400" dirty="0"/>
          </a:p>
        </p:txBody>
      </p:sp>
      <p:sp>
        <p:nvSpPr>
          <p:cNvPr id="8" name="texto-103"/>
          <p:cNvSpPr txBox="1"/>
          <p:nvPr/>
        </p:nvSpPr>
        <p:spPr>
          <a:xfrm>
            <a:off x="2194560" y="2926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só trafega em HTTPS</a:t>
            </a:r>
            <a:endParaRPr lang="en-US" sz="1600" dirty="0"/>
          </a:p>
        </p:txBody>
      </p:sp>
      <p:sp>
        <p:nvSpPr>
          <p:cNvPr id="9" name="tecla-104"/>
          <p:cNvSpPr txBox="1"/>
          <p:nvPr/>
        </p:nvSpPr>
        <p:spPr>
          <a:xfrm>
            <a:off x="548640" y="3794760"/>
            <a:ext cx="141732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SameSite</a:t>
            </a:r>
            <a:endParaRPr lang="en-US" sz="1400" dirty="0"/>
          </a:p>
        </p:txBody>
      </p:sp>
      <p:sp>
        <p:nvSpPr>
          <p:cNvPr id="10" name="texto-105"/>
          <p:cNvSpPr txBox="1"/>
          <p:nvPr/>
        </p:nvSpPr>
        <p:spPr>
          <a:xfrm>
            <a:off x="2194560" y="3794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Strict: outros sites não conseguem enviá-lo</a:t>
            </a:r>
            <a:endParaRPr lang="en-US" sz="1600" dirty="0"/>
          </a:p>
        </p:txBody>
      </p:sp>
      <p:sp>
        <p:nvSpPr>
          <p:cNvPr id="11" name="tecla-106"/>
          <p:cNvSpPr txBox="1"/>
          <p:nvPr/>
        </p:nvSpPr>
        <p:spPr>
          <a:xfrm>
            <a:off x="548640" y="4663440"/>
            <a:ext cx="141732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400" dirty="0"/>
          </a:p>
        </p:txBody>
      </p:sp>
      <p:sp>
        <p:nvSpPr>
          <p:cNvPr id="12" name="texto-107"/>
          <p:cNvSpPr txBox="1"/>
          <p:nvPr/>
        </p:nvSpPr>
        <p:spPr>
          <a:xfrm>
            <a:off x="2194560" y="4663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expira sozinho; revogado no logout e após votar</a:t>
            </a:r>
            <a:endParaRPr lang="en-US" sz="1600" dirty="0"/>
          </a:p>
        </p:txBody>
      </p:sp>
      <p:sp>
        <p:nvSpPr>
          <p:cNvPr id="13" name="cartao-108"/>
          <p:cNvSpPr/>
          <p:nvPr/>
        </p:nvSpPr>
        <p:spPr>
          <a:xfrm>
            <a:off x="6309360" y="1463040"/>
            <a:ext cx="5303520" cy="3474720"/>
          </a:xfrm>
          <a:prstGeom prst="roundRect">
            <a:avLst>
              <a:gd name="adj" fmla="val 2632"/>
            </a:avLst>
          </a:prstGeom>
          <a:solidFill>
            <a:schemeClr val="bg1"/>
          </a:solidFill>
          <a:ln w="9525">
            <a:solidFill>
              <a:srgbClr val="D3D8D2"/>
            </a:solidFill>
            <a:prstDash val="solid"/>
          </a:ln>
        </p:spPr>
      </p:sp>
      <p:sp>
        <p:nvSpPr>
          <p:cNvPr id="14" name="texto-109"/>
          <p:cNvSpPr txBox="1"/>
          <p:nvPr/>
        </p:nvSpPr>
        <p:spPr>
          <a:xfrm>
            <a:off x="6583680" y="1691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Ataques barrados</a:t>
            </a:r>
            <a:endParaRPr lang="en-US" sz="2000" dirty="0"/>
          </a:p>
        </p:txBody>
      </p:sp>
      <p:sp>
        <p:nvSpPr>
          <p:cNvPr id="15" name="texto-110"/>
          <p:cNvSpPr txBox="1"/>
          <p:nvPr/>
        </p:nvSpPr>
        <p:spPr>
          <a:xfrm>
            <a:off x="6583680" y="224028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CSRF: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cada sessão tem um token próprio, HMAC do id da sessão, enviado no cabeçalho X-CSRF-Token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Formulário de outro site: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 API só aceita JSON (415 caso contrário)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Token forjado: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algoritmo do JWT fixo em HS256; um token com alg=none é recusado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Escalada de privilégio: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o papel (eleitor, auditor, junta) é checado no servidor em toda rota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cla-111"/>
          <p:cNvSpPr txBox="1"/>
          <p:nvPr/>
        </p:nvSpPr>
        <p:spPr>
          <a:xfrm>
            <a:off x="548640" y="429768"/>
            <a:ext cx="868680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endParaRPr lang="en-US" sz="2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600200" y="365760"/>
            <a:ext cx="10012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 voto é cifrado antes de sair do navegador</a:t>
            </a:r>
            <a:endParaRPr lang="en-US" sz="3400" dirty="0"/>
          </a:p>
        </p:txBody>
      </p:sp>
      <p:sp>
        <p:nvSpPr>
          <p:cNvPr id="4" name="tecla-112"/>
          <p:cNvSpPr txBox="1"/>
          <p:nvPr/>
        </p:nvSpPr>
        <p:spPr>
          <a:xfrm>
            <a:off x="548640" y="1600200"/>
            <a:ext cx="23774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“10” + nonce</a:t>
            </a:r>
            <a:endParaRPr lang="en-US" sz="1500" dirty="0"/>
          </a:p>
        </p:txBody>
      </p:sp>
      <p:sp>
        <p:nvSpPr>
          <p:cNvPr id="5" name="seta-113"/>
          <p:cNvSpPr/>
          <p:nvPr/>
        </p:nvSpPr>
        <p:spPr>
          <a:xfrm>
            <a:off x="2971800" y="1938528"/>
            <a:ext cx="5029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tecla-114"/>
          <p:cNvSpPr txBox="1"/>
          <p:nvPr/>
        </p:nvSpPr>
        <p:spPr>
          <a:xfrm>
            <a:off x="3520440" y="1600200"/>
            <a:ext cx="301752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AES-256-GCM, chave nova</a:t>
            </a:r>
            <a:endParaRPr lang="en-US" sz="1500" dirty="0"/>
          </a:p>
        </p:txBody>
      </p:sp>
      <p:sp>
        <p:nvSpPr>
          <p:cNvPr id="7" name="seta-115"/>
          <p:cNvSpPr/>
          <p:nvPr/>
        </p:nvSpPr>
        <p:spPr>
          <a:xfrm>
            <a:off x="6583680" y="1938528"/>
            <a:ext cx="5029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tecla-116"/>
          <p:cNvSpPr txBox="1"/>
          <p:nvPr/>
        </p:nvSpPr>
        <p:spPr>
          <a:xfrm>
            <a:off x="7132320" y="1600200"/>
            <a:ext cx="192024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Voto cifrado</a:t>
            </a:r>
            <a:endParaRPr lang="en-US" sz="1500" dirty="0"/>
          </a:p>
        </p:txBody>
      </p:sp>
      <p:sp>
        <p:nvSpPr>
          <p:cNvPr id="9" name="tecla-117"/>
          <p:cNvSpPr txBox="1"/>
          <p:nvPr/>
        </p:nvSpPr>
        <p:spPr>
          <a:xfrm>
            <a:off x="3520440" y="2697480"/>
            <a:ext cx="137160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 AES</a:t>
            </a:r>
            <a:endParaRPr lang="en-US" sz="1500" dirty="0"/>
          </a:p>
        </p:txBody>
      </p:sp>
      <p:sp>
        <p:nvSpPr>
          <p:cNvPr id="10" name="seta-118"/>
          <p:cNvSpPr/>
          <p:nvPr/>
        </p:nvSpPr>
        <p:spPr>
          <a:xfrm>
            <a:off x="4937760" y="3035808"/>
            <a:ext cx="3657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tecla-119"/>
          <p:cNvSpPr txBox="1"/>
          <p:nvPr/>
        </p:nvSpPr>
        <p:spPr>
          <a:xfrm>
            <a:off x="5349240" y="2697480"/>
            <a:ext cx="329184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RSA-OAEP com a chave pública da eleição</a:t>
            </a:r>
            <a:endParaRPr lang="en-US" sz="1500" dirty="0"/>
          </a:p>
        </p:txBody>
      </p:sp>
      <p:sp>
        <p:nvSpPr>
          <p:cNvPr id="12" name="seta-120"/>
          <p:cNvSpPr/>
          <p:nvPr/>
        </p:nvSpPr>
        <p:spPr>
          <a:xfrm>
            <a:off x="8686800" y="3035808"/>
            <a:ext cx="3657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tecla-121"/>
          <p:cNvSpPr txBox="1"/>
          <p:nvPr/>
        </p:nvSpPr>
        <p:spPr>
          <a:xfrm>
            <a:off x="9098280" y="2697480"/>
            <a:ext cx="251460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 envelopada</a:t>
            </a:r>
            <a:endParaRPr lang="en-US" sz="1500" dirty="0"/>
          </a:p>
        </p:txBody>
      </p:sp>
      <p:sp>
        <p:nvSpPr>
          <p:cNvPr id="14" name="seta-122"/>
          <p:cNvSpPr/>
          <p:nvPr/>
        </p:nvSpPr>
        <p:spPr>
          <a:xfrm>
            <a:off x="9098280" y="1938528"/>
            <a:ext cx="7315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tecla-123"/>
          <p:cNvSpPr txBox="1"/>
          <p:nvPr/>
        </p:nvSpPr>
        <p:spPr>
          <a:xfrm>
            <a:off x="9875520" y="1600200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recebe</a:t>
            </a:r>
            <a:endParaRPr lang="en-US" sz="1500" dirty="0"/>
          </a:p>
        </p:txBody>
      </p:sp>
      <p:sp>
        <p:nvSpPr>
          <p:cNvPr id="16" name="moldura-124"/>
          <p:cNvSpPr/>
          <p:nvPr/>
        </p:nvSpPr>
        <p:spPr>
          <a:xfrm>
            <a:off x="512064" y="3803904"/>
            <a:ext cx="5650992" cy="2243254"/>
          </a:xfrm>
          <a:prstGeom prst="rect">
            <a:avLst/>
          </a:prstGeom>
          <a:solidFill>
            <a:schemeClr val="bg1"/>
          </a:solidFill>
          <a:ln w="9525">
            <a:solidFill>
              <a:srgbClr val="C9CEC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7" name="captura-125" descr="cab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0"/>
            <a:ext cx="5577840" cy="2170102"/>
          </a:xfrm>
          <a:prstGeom prst="rect">
            <a:avLst/>
          </a:prstGeom>
        </p:spPr>
      </p:pic>
      <p:sp>
        <p:nvSpPr>
          <p:cNvPr id="18" name="texto-126"/>
          <p:cNvSpPr txBox="1"/>
          <p:nvPr/>
        </p:nvSpPr>
        <p:spPr>
          <a:xfrm>
            <a:off x="6537960" y="3840480"/>
            <a:ext cx="5074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Web Crypto nativa do navegador, sem bibliotecas de terceiros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 nonce faz dois votos iguais gerarem textos cifrados diferentes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chave privada fica cifrada com a frase da Junta (scrypt + AES-GCM) e só é aberta na apuração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cla-127"/>
          <p:cNvSpPr txBox="1"/>
          <p:nvPr/>
        </p:nvSpPr>
        <p:spPr>
          <a:xfrm>
            <a:off x="548640" y="429768"/>
            <a:ext cx="868680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</a:t>
            </a:r>
            <a:endParaRPr lang="en-US" sz="2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600200" y="365760"/>
            <a:ext cx="10012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Voto único sem perder o anonimato</a:t>
            </a:r>
            <a:endParaRPr lang="en-US" sz="3400" dirty="0"/>
          </a:p>
        </p:txBody>
      </p:sp>
      <p:sp>
        <p:nvSpPr>
          <p:cNvPr id="4" name="cartao-128"/>
          <p:cNvSpPr/>
          <p:nvPr/>
        </p:nvSpPr>
        <p:spPr>
          <a:xfrm>
            <a:off x="548640" y="1463040"/>
            <a:ext cx="3749040" cy="4526280"/>
          </a:xfrm>
          <a:prstGeom prst="roundRect">
            <a:avLst>
              <a:gd name="adj" fmla="val 2439"/>
            </a:avLst>
          </a:prstGeom>
          <a:solidFill>
            <a:schemeClr val="tx2"/>
          </a:solidFill>
          <a:ln w="9525">
            <a:solidFill>
              <a:srgbClr val="D3D8D2"/>
            </a:solidFill>
            <a:prstDash val="solid"/>
          </a:ln>
        </p:spPr>
      </p:sp>
      <p:sp>
        <p:nvSpPr>
          <p:cNvPr id="5" name="texto-129"/>
          <p:cNvSpPr txBox="1"/>
          <p:nvPr/>
        </p:nvSpPr>
        <p:spPr>
          <a:xfrm>
            <a:off x="822960" y="17830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→ 1</a:t>
            </a:r>
            <a:endParaRPr lang="en-US" sz="6600" dirty="0"/>
          </a:p>
        </p:txBody>
      </p:sp>
      <p:sp>
        <p:nvSpPr>
          <p:cNvPr id="6" name="texto-130"/>
          <p:cNvSpPr txBox="1"/>
          <p:nvPr/>
        </p:nvSpPr>
        <p:spPr>
          <a:xfrm>
            <a:off x="822960" y="2926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Cinco envios simultâneos do mesmo eleitor: um único voto aceito</a:t>
            </a:r>
            <a:endParaRPr lang="en-US" sz="1700" dirty="0"/>
          </a:p>
        </p:txBody>
      </p:sp>
      <p:sp>
        <p:nvSpPr>
          <p:cNvPr id="7" name="texto-131"/>
          <p:cNvSpPr txBox="1"/>
          <p:nvPr/>
        </p:nvSpPr>
        <p:spPr>
          <a:xfrm>
            <a:off x="822960" y="397764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Barreira dupla: inserção com _id = título (o índice único do banco só deixa uma passar) e troca condicional jaVotou false → true.</a:t>
            </a:r>
            <a:endParaRPr lang="en-US" sz="1400" dirty="0"/>
          </a:p>
        </p:txBody>
      </p:sp>
      <p:sp>
        <p:nvSpPr>
          <p:cNvPr id="8" name="texto-132"/>
          <p:cNvSpPr txBox="1"/>
          <p:nvPr/>
        </p:nvSpPr>
        <p:spPr>
          <a:xfrm>
            <a:off x="4663440" y="14630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R5  </a:t>
            </a:r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que fica gravado — e o que não fica</a:t>
            </a:r>
            <a:endParaRPr lang="en-US" sz="2000" dirty="0"/>
          </a:p>
        </p:txBody>
      </p:sp>
      <p:sp>
        <p:nvSpPr>
          <p:cNvPr id="9" name="cartao-133"/>
          <p:cNvSpPr/>
          <p:nvPr/>
        </p:nvSpPr>
        <p:spPr>
          <a:xfrm>
            <a:off x="4663440" y="2057400"/>
            <a:ext cx="6949440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9525">
            <a:solidFill>
              <a:srgbClr val="D3D8D2"/>
            </a:solidFill>
            <a:prstDash val="solid"/>
          </a:ln>
        </p:spPr>
      </p:sp>
      <p:sp>
        <p:nvSpPr>
          <p:cNvPr id="10" name="texto-134"/>
          <p:cNvSpPr txBox="1"/>
          <p:nvPr/>
        </p:nvSpPr>
        <p:spPr>
          <a:xfrm>
            <a:off x="4892040" y="2130552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Cadastro do eleitor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título, nome e jaVotou: true. Sem horário, sem referência ao voto.</a:t>
            </a:r>
            <a:endParaRPr lang="en-US" sz="1600" dirty="0"/>
          </a:p>
        </p:txBody>
      </p:sp>
      <p:sp>
        <p:nvSpPr>
          <p:cNvPr id="11" name="cartao-135"/>
          <p:cNvSpPr/>
          <p:nvPr/>
        </p:nvSpPr>
        <p:spPr>
          <a:xfrm>
            <a:off x="4663440" y="3044952"/>
            <a:ext cx="6949440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9525">
            <a:solidFill>
              <a:srgbClr val="D3D8D2"/>
            </a:solidFill>
            <a:prstDash val="solid"/>
          </a:ln>
        </p:spPr>
      </p:sp>
      <p:sp>
        <p:nvSpPr>
          <p:cNvPr id="12" name="texto-136"/>
          <p:cNvSpPr txBox="1"/>
          <p:nvPr/>
        </p:nvSpPr>
        <p:spPr>
          <a:xfrm>
            <a:off x="4892040" y="3118104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Bloco do ledger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posição, hash anterior, voto cifrado e assinatura. Sem identidade.</a:t>
            </a:r>
            <a:endParaRPr lang="en-US" sz="1600" dirty="0"/>
          </a:p>
        </p:txBody>
      </p:sp>
      <p:sp>
        <p:nvSpPr>
          <p:cNvPr id="13" name="cartao-137"/>
          <p:cNvSpPr/>
          <p:nvPr/>
        </p:nvSpPr>
        <p:spPr>
          <a:xfrm>
            <a:off x="4663440" y="4032504"/>
            <a:ext cx="6949440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9525">
            <a:solidFill>
              <a:srgbClr val="D3D8D2"/>
            </a:solidFill>
            <a:prstDash val="solid"/>
          </a:ln>
        </p:spPr>
      </p:sp>
      <p:sp>
        <p:nvSpPr>
          <p:cNvPr id="14" name="texto-138"/>
          <p:cNvSpPr txBox="1"/>
          <p:nvPr/>
        </p:nvSpPr>
        <p:spPr>
          <a:xfrm>
            <a:off x="4892040" y="4105656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Trilha de auditoria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evento VOTO_REGISTRADO com ator “eleitor” e IP oculto.</a:t>
            </a:r>
            <a:endParaRPr lang="en-US" sz="1600" dirty="0"/>
          </a:p>
        </p:txBody>
      </p:sp>
      <p:sp>
        <p:nvSpPr>
          <p:cNvPr id="15" name="cartao-139"/>
          <p:cNvSpPr/>
          <p:nvPr/>
        </p:nvSpPr>
        <p:spPr>
          <a:xfrm>
            <a:off x="4663440" y="5020056"/>
            <a:ext cx="6949440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9525">
            <a:solidFill>
              <a:srgbClr val="D3D8D2"/>
            </a:solidFill>
            <a:prstDash val="solid"/>
          </a:ln>
        </p:spPr>
      </p:sp>
      <p:sp>
        <p:nvSpPr>
          <p:cNvPr id="16" name="texto-140"/>
          <p:cNvSpPr txBox="1"/>
          <p:nvPr/>
        </p:nvSpPr>
        <p:spPr>
          <a:xfrm>
            <a:off x="4892040" y="509320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Carimbo de tempo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truncado ao minuto para dificultar correlação.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cla-141"/>
          <p:cNvSpPr txBox="1"/>
          <p:nvPr/>
        </p:nvSpPr>
        <p:spPr>
          <a:xfrm>
            <a:off x="548640" y="429768"/>
            <a:ext cx="868680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</a:t>
            </a:r>
            <a:endParaRPr lang="en-US" sz="2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600200" y="365760"/>
            <a:ext cx="10012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Alterar um voto quebra a cadeia</a:t>
            </a:r>
            <a:endParaRPr lang="en-US" sz="3400" dirty="0"/>
          </a:p>
        </p:txBody>
      </p:sp>
      <p:sp>
        <p:nvSpPr>
          <p:cNvPr id="4" name="bloco-142"/>
          <p:cNvSpPr/>
          <p:nvPr/>
        </p:nvSpPr>
        <p:spPr>
          <a:xfrm>
            <a:off x="548640" y="1554480"/>
            <a:ext cx="2377440" cy="2240280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 w="12700">
            <a:solidFill>
              <a:srgbClr val="C9CEC8"/>
            </a:solidFill>
            <a:prstDash val="solid"/>
          </a:ln>
        </p:spPr>
      </p:sp>
      <p:sp>
        <p:nvSpPr>
          <p:cNvPr id="5" name="texto-143"/>
          <p:cNvSpPr txBox="1"/>
          <p:nvPr/>
        </p:nvSpPr>
        <p:spPr>
          <a:xfrm>
            <a:off x="731520" y="1691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Bloco 0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gênese</a:t>
            </a:r>
            <a:endParaRPr lang="en-US" sz="1600" dirty="0"/>
          </a:p>
        </p:txBody>
      </p:sp>
      <p:sp>
        <p:nvSpPr>
          <p:cNvPr id="6" name="texto-144"/>
          <p:cNvSpPr txBox="1"/>
          <p:nvPr/>
        </p:nvSpPr>
        <p:spPr>
          <a:xfrm>
            <a:off x="731520" y="242316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hash anterior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conteúdo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hash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assinatura Ed25519</a:t>
            </a:r>
            <a:endParaRPr lang="en-US" sz="1600" dirty="0"/>
          </a:p>
        </p:txBody>
      </p:sp>
      <p:sp>
        <p:nvSpPr>
          <p:cNvPr id="7" name="seta-145"/>
          <p:cNvSpPr/>
          <p:nvPr/>
        </p:nvSpPr>
        <p:spPr>
          <a:xfrm>
            <a:off x="2953512" y="2651760"/>
            <a:ext cx="40233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bloco-146"/>
          <p:cNvSpPr/>
          <p:nvPr/>
        </p:nvSpPr>
        <p:spPr>
          <a:xfrm>
            <a:off x="3383280" y="1554480"/>
            <a:ext cx="2377440" cy="2240280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 w="12700">
            <a:solidFill>
              <a:srgbClr val="C9CEC8"/>
            </a:solidFill>
            <a:prstDash val="solid"/>
          </a:ln>
        </p:spPr>
      </p:sp>
      <p:sp>
        <p:nvSpPr>
          <p:cNvPr id="9" name="texto-147"/>
          <p:cNvSpPr txBox="1"/>
          <p:nvPr/>
        </p:nvSpPr>
        <p:spPr>
          <a:xfrm>
            <a:off x="3566160" y="1691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Bloco 1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voto cifrado</a:t>
            </a:r>
            <a:endParaRPr lang="en-US" sz="1600" dirty="0"/>
          </a:p>
        </p:txBody>
      </p:sp>
      <p:sp>
        <p:nvSpPr>
          <p:cNvPr id="10" name="texto-148"/>
          <p:cNvSpPr txBox="1"/>
          <p:nvPr/>
        </p:nvSpPr>
        <p:spPr>
          <a:xfrm>
            <a:off x="3566160" y="242316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hash anterior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conteúdo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hash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assinatura Ed25519</a:t>
            </a:r>
            <a:endParaRPr lang="en-US" sz="1600" dirty="0"/>
          </a:p>
        </p:txBody>
      </p:sp>
      <p:sp>
        <p:nvSpPr>
          <p:cNvPr id="11" name="seta-149"/>
          <p:cNvSpPr/>
          <p:nvPr/>
        </p:nvSpPr>
        <p:spPr>
          <a:xfrm>
            <a:off x="5788152" y="2651760"/>
            <a:ext cx="40233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bloco-150"/>
          <p:cNvSpPr/>
          <p:nvPr/>
        </p:nvSpPr>
        <p:spPr>
          <a:xfrm>
            <a:off x="6217920" y="1554480"/>
            <a:ext cx="2377440" cy="2240280"/>
          </a:xfrm>
          <a:prstGeom prst="roundRect">
            <a:avLst>
              <a:gd name="adj" fmla="val 4082"/>
            </a:avLst>
          </a:prstGeom>
          <a:solidFill>
            <a:srgbClr val="F8E3E1"/>
          </a:solidFill>
          <a:ln w="31750">
            <a:solidFill>
              <a:schemeClr val="accent4"/>
            </a:solidFill>
            <a:prstDash val="solid"/>
          </a:ln>
        </p:spPr>
      </p:sp>
      <p:sp>
        <p:nvSpPr>
          <p:cNvPr id="13" name="texto-151"/>
          <p:cNvSpPr txBox="1"/>
          <p:nvPr/>
        </p:nvSpPr>
        <p:spPr>
          <a:xfrm>
            <a:off x="6400800" y="1691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Bloco 2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voto trocado</a:t>
            </a:r>
            <a:endParaRPr lang="en-US" sz="1600" dirty="0"/>
          </a:p>
        </p:txBody>
      </p:sp>
      <p:sp>
        <p:nvSpPr>
          <p:cNvPr id="14" name="texto-152"/>
          <p:cNvSpPr txBox="1"/>
          <p:nvPr/>
        </p:nvSpPr>
        <p:spPr>
          <a:xfrm>
            <a:off x="6400800" y="242316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hash anterior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conteúdo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hash recalculado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assinatura inválida</a:t>
            </a:r>
            <a:endParaRPr lang="en-US" sz="1600" dirty="0"/>
          </a:p>
        </p:txBody>
      </p:sp>
      <p:sp>
        <p:nvSpPr>
          <p:cNvPr id="15" name="seta-153"/>
          <p:cNvSpPr/>
          <p:nvPr/>
        </p:nvSpPr>
        <p:spPr>
          <a:xfrm>
            <a:off x="8622792" y="2651760"/>
            <a:ext cx="40233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bloco-154"/>
          <p:cNvSpPr/>
          <p:nvPr/>
        </p:nvSpPr>
        <p:spPr>
          <a:xfrm>
            <a:off x="9052560" y="1554480"/>
            <a:ext cx="2377440" cy="2240280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 w="12700">
            <a:solidFill>
              <a:srgbClr val="C9CEC8"/>
            </a:solidFill>
            <a:prstDash val="solid"/>
          </a:ln>
        </p:spPr>
      </p:sp>
      <p:sp>
        <p:nvSpPr>
          <p:cNvPr id="17" name="texto-155"/>
          <p:cNvSpPr txBox="1"/>
          <p:nvPr/>
        </p:nvSpPr>
        <p:spPr>
          <a:xfrm>
            <a:off x="9235440" y="1691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Bloco 3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voto cifrado</a:t>
            </a:r>
            <a:endParaRPr lang="en-US" sz="1600" dirty="0"/>
          </a:p>
        </p:txBody>
      </p:sp>
      <p:sp>
        <p:nvSpPr>
          <p:cNvPr id="18" name="texto-156"/>
          <p:cNvSpPr txBox="1"/>
          <p:nvPr/>
        </p:nvSpPr>
        <p:spPr>
          <a:xfrm>
            <a:off x="9235440" y="242316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hash anterior não confere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conteúdo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hash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assinatura Ed25519</a:t>
            </a:r>
            <a:endParaRPr lang="en-US" sz="1600" dirty="0"/>
          </a:p>
        </p:txBody>
      </p:sp>
      <p:sp>
        <p:nvSpPr>
          <p:cNvPr id="19" name="cartao-157"/>
          <p:cNvSpPr/>
          <p:nvPr/>
        </p:nvSpPr>
        <p:spPr>
          <a:xfrm>
            <a:off x="548640" y="4114800"/>
            <a:ext cx="548640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D3D8D2"/>
            </a:solidFill>
            <a:prstDash val="solid"/>
          </a:ln>
        </p:spPr>
      </p:sp>
      <p:sp>
        <p:nvSpPr>
          <p:cNvPr id="20" name="texto-158"/>
          <p:cNvSpPr txBox="1"/>
          <p:nvPr/>
        </p:nvSpPr>
        <p:spPr>
          <a:xfrm>
            <a:off x="777240" y="4279392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Como é calculado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hash = SHA-256(posição, hash anterior, carimbo, hash do conteúdo)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assinatura = Ed25519(hash) com a chave privada do servidor</a:t>
            </a:r>
            <a:endParaRPr lang="en-US" sz="1500" dirty="0"/>
          </a:p>
        </p:txBody>
      </p:sp>
      <p:sp>
        <p:nvSpPr>
          <p:cNvPr id="21" name="cartao-159"/>
          <p:cNvSpPr/>
          <p:nvPr/>
        </p:nvSpPr>
        <p:spPr>
          <a:xfrm>
            <a:off x="6217920" y="4114800"/>
            <a:ext cx="539496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D3D8D2"/>
            </a:solidFill>
            <a:prstDash val="solid"/>
          </a:ln>
        </p:spPr>
      </p:sp>
      <p:sp>
        <p:nvSpPr>
          <p:cNvPr id="22" name="texto-160"/>
          <p:cNvSpPr txBox="1"/>
          <p:nvPr/>
        </p:nvSpPr>
        <p:spPr>
          <a:xfrm>
            <a:off x="6446520" y="4279392"/>
            <a:ext cx="4983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 ataque que simulamos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invasor tem acesso ao banco, cifra um voto falso com a chave pública e recalcula os hashes. Sem a chave de assinatura, o bloco fica inválido e o bloco seguinte perde o elo.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cla-161"/>
          <p:cNvSpPr txBox="1"/>
          <p:nvPr/>
        </p:nvSpPr>
        <p:spPr>
          <a:xfrm>
            <a:off x="548640" y="429768"/>
            <a:ext cx="868680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</a:t>
            </a:r>
            <a:endParaRPr lang="en-US" sz="2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600200" y="365760"/>
            <a:ext cx="10012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Três réplicas, decisão por maioria</a:t>
            </a:r>
            <a:endParaRPr lang="en-US" sz="3400" dirty="0"/>
          </a:p>
        </p:txBody>
      </p:sp>
      <p:sp>
        <p:nvSpPr>
          <p:cNvPr id="4" name="moldura-162"/>
          <p:cNvSpPr/>
          <p:nvPr/>
        </p:nvSpPr>
        <p:spPr>
          <a:xfrm>
            <a:off x="512064" y="1517904"/>
            <a:ext cx="6839712" cy="1676306"/>
          </a:xfrm>
          <a:prstGeom prst="rect">
            <a:avLst/>
          </a:prstGeom>
          <a:solidFill>
            <a:schemeClr val="bg1"/>
          </a:solidFill>
          <a:ln w="9525">
            <a:solidFill>
              <a:srgbClr val="C9CEC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captura-163" descr="repar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766560" cy="1603154"/>
          </a:xfrm>
          <a:prstGeom prst="rect">
            <a:avLst/>
          </a:prstGeom>
        </p:spPr>
      </p:pic>
      <p:sp>
        <p:nvSpPr>
          <p:cNvPr id="6" name="texto-164"/>
          <p:cNvSpPr txBox="1"/>
          <p:nvPr/>
        </p:nvSpPr>
        <p:spPr>
          <a:xfrm>
            <a:off x="548640" y="331012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Tela da Junta após o ataque: no_tre_sp marcado como adulterado, maioria em consenso</a:t>
            </a:r>
            <a:endParaRPr lang="en-US" sz="1200" dirty="0"/>
          </a:p>
        </p:txBody>
      </p:sp>
      <p:sp>
        <p:nvSpPr>
          <p:cNvPr id="7" name="tecla-165"/>
          <p:cNvSpPr txBox="1"/>
          <p:nvPr/>
        </p:nvSpPr>
        <p:spPr>
          <a:xfrm>
            <a:off x="548640" y="3977640"/>
            <a:ext cx="201168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no_tse</a:t>
            </a:r>
            <a:endParaRPr lang="en-US" sz="1500" dirty="0"/>
          </a:p>
        </p:txBody>
      </p:sp>
      <p:sp>
        <p:nvSpPr>
          <p:cNvPr id="8" name="tecla-166"/>
          <p:cNvSpPr txBox="1"/>
          <p:nvPr/>
        </p:nvSpPr>
        <p:spPr>
          <a:xfrm>
            <a:off x="2834640" y="3977640"/>
            <a:ext cx="201168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no_tre_sc</a:t>
            </a:r>
            <a:endParaRPr lang="en-US" sz="1500" dirty="0"/>
          </a:p>
        </p:txBody>
      </p:sp>
      <p:sp>
        <p:nvSpPr>
          <p:cNvPr id="9" name="tecla-167"/>
          <p:cNvSpPr txBox="1"/>
          <p:nvPr/>
        </p:nvSpPr>
        <p:spPr>
          <a:xfrm>
            <a:off x="5120640" y="3977640"/>
            <a:ext cx="2011680" cy="64008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no_tre_sp</a:t>
            </a:r>
            <a:endParaRPr lang="en-US" sz="1500" dirty="0"/>
          </a:p>
        </p:txBody>
      </p:sp>
      <p:sp>
        <p:nvSpPr>
          <p:cNvPr id="10" name="texto-168"/>
          <p:cNvSpPr txBox="1"/>
          <p:nvPr/>
        </p:nvSpPr>
        <p:spPr>
          <a:xfrm>
            <a:off x="548640" y="48463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Quórum: 2 de 3. Com menos que isso, votação e apuração são suspensas.</a:t>
            </a:r>
            <a:endParaRPr lang="en-US" sz="1600" dirty="0"/>
          </a:p>
        </p:txBody>
      </p:sp>
      <p:sp>
        <p:nvSpPr>
          <p:cNvPr id="11" name="cartao-169"/>
          <p:cNvSpPr/>
          <p:nvPr/>
        </p:nvSpPr>
        <p:spPr>
          <a:xfrm>
            <a:off x="7680960" y="155448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9525">
            <a:solidFill>
              <a:srgbClr val="D3D8D2"/>
            </a:solidFill>
            <a:prstDash val="solid"/>
          </a:ln>
        </p:spPr>
      </p:sp>
      <p:sp>
        <p:nvSpPr>
          <p:cNvPr id="12" name="texto-170"/>
          <p:cNvSpPr txBox="1"/>
          <p:nvPr/>
        </p:nvSpPr>
        <p:spPr>
          <a:xfrm>
            <a:off x="7909560" y="1783080"/>
            <a:ext cx="3520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Cada voto é gravado nos 3 nós em paralelo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Só é confirmado se a maioria gravar; senão é desfeito e o eleitor tenta de novo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Um nó adulterado ou atrasado é isolado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Junta repara o nó copiando os blocos da maioria íntegra (registrado na trilha)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Para fraudar seria preciso a maioria dos nós e a chave de assinatura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cla-171"/>
          <p:cNvSpPr txBox="1"/>
          <p:nvPr/>
        </p:nvSpPr>
        <p:spPr>
          <a:xfrm>
            <a:off x="548640" y="429768"/>
            <a:ext cx="868680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R8</a:t>
            </a:r>
            <a:endParaRPr lang="en-US" sz="2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600200" y="365760"/>
            <a:ext cx="10012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Auditoria e verificação pública</a:t>
            </a:r>
            <a:endParaRPr lang="en-US" sz="3400" dirty="0"/>
          </a:p>
        </p:txBody>
      </p:sp>
      <p:sp>
        <p:nvSpPr>
          <p:cNvPr id="4" name="moldura-172"/>
          <p:cNvSpPr/>
          <p:nvPr/>
        </p:nvSpPr>
        <p:spPr>
          <a:xfrm>
            <a:off x="512064" y="1517904"/>
            <a:ext cx="5833872" cy="1500119"/>
          </a:xfrm>
          <a:prstGeom prst="rect">
            <a:avLst/>
          </a:prstGeom>
          <a:solidFill>
            <a:schemeClr val="bg1"/>
          </a:solidFill>
          <a:ln w="9525">
            <a:solidFill>
              <a:srgbClr val="C9CEC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captura-173" descr="auditor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760720" cy="1426967"/>
          </a:xfrm>
          <a:prstGeom prst="rect">
            <a:avLst/>
          </a:prstGeom>
        </p:spPr>
      </p:pic>
      <p:sp>
        <p:nvSpPr>
          <p:cNvPr id="6" name="texto-174"/>
          <p:cNvSpPr txBox="1"/>
          <p:nvPr/>
        </p:nvSpPr>
        <p:spPr>
          <a:xfrm>
            <a:off x="548640" y="30906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Recontagem por amostragem: o bloco 3 diverge no nó adulterado</a:t>
            </a:r>
            <a:endParaRPr lang="en-US" sz="1200" dirty="0"/>
          </a:p>
        </p:txBody>
      </p:sp>
      <p:sp>
        <p:nvSpPr>
          <p:cNvPr id="7" name="moldura-175"/>
          <p:cNvSpPr/>
          <p:nvPr/>
        </p:nvSpPr>
        <p:spPr>
          <a:xfrm>
            <a:off x="512064" y="3575304"/>
            <a:ext cx="5833872" cy="1162719"/>
          </a:xfrm>
          <a:prstGeom prst="rect">
            <a:avLst/>
          </a:prstGeom>
          <a:solidFill>
            <a:schemeClr val="bg1"/>
          </a:solidFill>
          <a:ln w="9525">
            <a:solidFill>
              <a:srgbClr val="C9CEC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captura-176" descr="trans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11880"/>
            <a:ext cx="5760720" cy="1089567"/>
          </a:xfrm>
          <a:prstGeom prst="rect">
            <a:avLst/>
          </a:prstGeom>
        </p:spPr>
      </p:pic>
      <p:sp>
        <p:nvSpPr>
          <p:cNvPr id="9" name="texto-177"/>
          <p:cNvSpPr txBox="1"/>
          <p:nvPr/>
        </p:nvSpPr>
        <p:spPr>
          <a:xfrm>
            <a:off x="548640" y="47731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Página pública: a cadeia e o boletim verificados no navegador de qualquer pessoa</a:t>
            </a:r>
            <a:endParaRPr lang="en-US" sz="1200" dirty="0"/>
          </a:p>
        </p:txBody>
      </p:sp>
      <p:sp>
        <p:nvSpPr>
          <p:cNvPr id="10" name="tecla-178"/>
          <p:cNvSpPr txBox="1"/>
          <p:nvPr/>
        </p:nvSpPr>
        <p:spPr>
          <a:xfrm>
            <a:off x="6720840" y="1600200"/>
            <a:ext cx="457200" cy="438912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o-179"/>
          <p:cNvSpPr txBox="1"/>
          <p:nvPr/>
        </p:nvSpPr>
        <p:spPr>
          <a:xfrm>
            <a:off x="7360920" y="155448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Auditor só lê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partidos, MP e sociedade civil recalculam, sem poder escrever</a:t>
            </a:r>
            <a:endParaRPr lang="en-US" sz="1600" dirty="0"/>
          </a:p>
        </p:txBody>
      </p:sp>
      <p:sp>
        <p:nvSpPr>
          <p:cNvPr id="12" name="tecla-180"/>
          <p:cNvSpPr txBox="1"/>
          <p:nvPr/>
        </p:nvSpPr>
        <p:spPr>
          <a:xfrm>
            <a:off x="6720840" y="2468880"/>
            <a:ext cx="457200" cy="438912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o-181"/>
          <p:cNvSpPr txBox="1"/>
          <p:nvPr/>
        </p:nvSpPr>
        <p:spPr>
          <a:xfrm>
            <a:off x="7360920" y="24231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Trilha assinada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logins, falhas, bloqueios, abertura, apuração: tudo encadeado</a:t>
            </a:r>
            <a:endParaRPr lang="en-US" sz="1600" dirty="0"/>
          </a:p>
        </p:txBody>
      </p:sp>
      <p:sp>
        <p:nvSpPr>
          <p:cNvPr id="14" name="tecla-182"/>
          <p:cNvSpPr txBox="1"/>
          <p:nvPr/>
        </p:nvSpPr>
        <p:spPr>
          <a:xfrm>
            <a:off x="6720840" y="3337560"/>
            <a:ext cx="457200" cy="438912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o-183"/>
          <p:cNvSpPr txBox="1"/>
          <p:nvPr/>
        </p:nvSpPr>
        <p:spPr>
          <a:xfrm>
            <a:off x="7360920" y="32918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Amostragem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blocos sorteados conferidos em todos os nós</a:t>
            </a:r>
            <a:endParaRPr lang="en-US" sz="1600" dirty="0"/>
          </a:p>
        </p:txBody>
      </p:sp>
      <p:sp>
        <p:nvSpPr>
          <p:cNvPr id="16" name="tecla-184"/>
          <p:cNvSpPr txBox="1"/>
          <p:nvPr/>
        </p:nvSpPr>
        <p:spPr>
          <a:xfrm>
            <a:off x="6720840" y="4206240"/>
            <a:ext cx="457200" cy="438912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o-185"/>
          <p:cNvSpPr txBox="1"/>
          <p:nvPr/>
        </p:nvSpPr>
        <p:spPr>
          <a:xfrm>
            <a:off x="7360920" y="416052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Boletim público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assinado e com o hash final da cadeia</a:t>
            </a:r>
            <a:endParaRPr lang="en-US" sz="1600" dirty="0"/>
          </a:p>
        </p:txBody>
      </p:sp>
      <p:sp>
        <p:nvSpPr>
          <p:cNvPr id="18" name="tecla-186"/>
          <p:cNvSpPr txBox="1"/>
          <p:nvPr/>
        </p:nvSpPr>
        <p:spPr>
          <a:xfrm>
            <a:off x="6720840" y="5074920"/>
            <a:ext cx="457200" cy="438912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o-187"/>
          <p:cNvSpPr txBox="1"/>
          <p:nvPr/>
        </p:nvSpPr>
        <p:spPr>
          <a:xfrm>
            <a:off x="7360920" y="502920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Comprovante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eleitor confirma que seu voto está lá, sem revelar o conteúdo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Ataques que testamos contra o próprio sistema</a:t>
            </a:r>
            <a:endParaRPr lang="en-US" sz="3400" dirty="0"/>
          </a:p>
        </p:txBody>
      </p:sp>
      <p:graphicFrame>
        <p:nvGraphicFramePr>
          <p:cNvPr id="14" name="ataqu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512064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Injeção NoSQL {"$ne": ""} no login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Bloqueio de operadores + validação Zod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Requisição sem token CSRF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por sessão + só JSON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forjado com alg=none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 fixo HS256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Força bruta de senha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Bloqueio da conta + limite por 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Voto duplo simultâneo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 único no banco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de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Eleitor acessando a Junta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Papéis verificados no servidor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Requisição gigante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de 16 KB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Voto trocado direto no banco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+ assinatura + réplicas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XSS e clickjacking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CSP script-src 'self', frame-ancestors 'none'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Resultado do teste automatizado</a:t>
            </a:r>
            <a:endParaRPr lang="en-US" sz="3400" dirty="0"/>
          </a:p>
        </p:txBody>
      </p:sp>
      <p:sp>
        <p:nvSpPr>
          <p:cNvPr id="3" name="cartao-188"/>
          <p:cNvSpPr/>
          <p:nvPr/>
        </p:nvSpPr>
        <p:spPr>
          <a:xfrm>
            <a:off x="548640" y="1463040"/>
            <a:ext cx="3749040" cy="4526280"/>
          </a:xfrm>
          <a:prstGeom prst="roundRect">
            <a:avLst>
              <a:gd name="adj" fmla="val 2439"/>
            </a:avLst>
          </a:prstGeom>
          <a:solidFill>
            <a:schemeClr val="tx2"/>
          </a:solidFill>
          <a:ln w="9525">
            <a:solidFill>
              <a:srgbClr val="D3D8D2"/>
            </a:solidFill>
            <a:prstDash val="solid"/>
          </a:ln>
        </p:spPr>
      </p:sp>
      <p:sp>
        <p:nvSpPr>
          <p:cNvPr id="4" name="texto-189"/>
          <p:cNvSpPr txBox="1"/>
          <p:nvPr/>
        </p:nvSpPr>
        <p:spPr>
          <a:xfrm>
            <a:off x="822960" y="18288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47/47</a:t>
            </a:r>
            <a:endParaRPr lang="en-US" sz="7200" dirty="0"/>
          </a:p>
        </p:txBody>
      </p:sp>
      <p:sp>
        <p:nvSpPr>
          <p:cNvPr id="5" name="texto-190"/>
          <p:cNvSpPr txBox="1"/>
          <p:nvPr/>
        </p:nvSpPr>
        <p:spPr>
          <a:xfrm>
            <a:off x="822960" y="3108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verificações passaram, incluindo os 9 ataques</a:t>
            </a:r>
            <a:endParaRPr lang="en-US" sz="1800" dirty="0"/>
          </a:p>
        </p:txBody>
      </p:sp>
      <p:sp>
        <p:nvSpPr>
          <p:cNvPr id="6" name="texto-191"/>
          <p:cNvSpPr txBox="1"/>
          <p:nvPr/>
        </p:nvSpPr>
        <p:spPr>
          <a:xfrm>
            <a:off x="822960" y="5120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testar</a:t>
            </a:r>
            <a:endParaRPr lang="en-US" sz="1600" dirty="0"/>
          </a:p>
        </p:txBody>
      </p:sp>
      <p:graphicFrame>
        <p:nvGraphicFramePr>
          <p:cNvPr id="7" name="grafico-testes" descr=""/>
          <p:cNvGraphicFramePr/>
          <p:nvPr/>
        </p:nvGraphicFramePr>
        <p:xfrm>
          <a:off x="4572000" y="1417320"/>
          <a:ext cx="70408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Demonstração ao vivo</a:t>
            </a:r>
            <a:endParaRPr lang="en-US" sz="3400" dirty="0"/>
          </a:p>
        </p:txBody>
      </p:sp>
      <p:sp>
        <p:nvSpPr>
          <p:cNvPr id="3" name="tecla-192"/>
          <p:cNvSpPr txBox="1"/>
          <p:nvPr/>
        </p:nvSpPr>
        <p:spPr>
          <a:xfrm>
            <a:off x="548640" y="1508760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o-193"/>
          <p:cNvSpPr txBox="1"/>
          <p:nvPr/>
        </p:nvSpPr>
        <p:spPr>
          <a:xfrm>
            <a:off x="1325880" y="1463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Junta abre a votação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admin + código TOTP</a:t>
            </a:r>
            <a:endParaRPr lang="en-US" sz="1700" dirty="0"/>
          </a:p>
        </p:txBody>
      </p:sp>
      <p:sp>
        <p:nvSpPr>
          <p:cNvPr id="5" name="tecla-194"/>
          <p:cNvSpPr txBox="1"/>
          <p:nvPr/>
        </p:nvSpPr>
        <p:spPr>
          <a:xfrm>
            <a:off x="548640" y="2606040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o-195"/>
          <p:cNvSpPr txBox="1"/>
          <p:nvPr/>
        </p:nvSpPr>
        <p:spPr>
          <a:xfrm>
            <a:off x="1325880" y="25603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Eleitor vota no 10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veja o pacote cifrado na lateral</a:t>
            </a:r>
            <a:endParaRPr lang="en-US" sz="1700" dirty="0"/>
          </a:p>
        </p:txBody>
      </p:sp>
      <p:sp>
        <p:nvSpPr>
          <p:cNvPr id="7" name="tecla-196"/>
          <p:cNvSpPr txBox="1"/>
          <p:nvPr/>
        </p:nvSpPr>
        <p:spPr>
          <a:xfrm>
            <a:off x="548640" y="3703320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o-197"/>
          <p:cNvSpPr txBox="1"/>
          <p:nvPr/>
        </p:nvSpPr>
        <p:spPr>
          <a:xfrm>
            <a:off x="1325880" y="36576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Consulta o comprovante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presente nos 3 nós</a:t>
            </a:r>
            <a:endParaRPr lang="en-US" sz="1700" dirty="0"/>
          </a:p>
        </p:txBody>
      </p:sp>
      <p:sp>
        <p:nvSpPr>
          <p:cNvPr id="9" name="tecla-198"/>
          <p:cNvSpPr txBox="1"/>
          <p:nvPr/>
        </p:nvSpPr>
        <p:spPr>
          <a:xfrm>
            <a:off x="548640" y="4800600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o-199"/>
          <p:cNvSpPr txBox="1"/>
          <p:nvPr/>
        </p:nvSpPr>
        <p:spPr>
          <a:xfrm>
            <a:off x="1325880" y="47548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Tenta votar de novo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bloqueado</a:t>
            </a:r>
            <a:endParaRPr lang="en-US" sz="1700" dirty="0"/>
          </a:p>
        </p:txBody>
      </p:sp>
      <p:sp>
        <p:nvSpPr>
          <p:cNvPr id="11" name="tecla-200"/>
          <p:cNvSpPr txBox="1"/>
          <p:nvPr/>
        </p:nvSpPr>
        <p:spPr>
          <a:xfrm>
            <a:off x="6217920" y="1508760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2" name="texto-201"/>
          <p:cNvSpPr txBox="1"/>
          <p:nvPr/>
        </p:nvSpPr>
        <p:spPr>
          <a:xfrm>
            <a:off x="6995160" y="1463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Ataque no banco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demo:adulterar</a:t>
            </a:r>
            <a:endParaRPr lang="en-US" sz="1700" dirty="0"/>
          </a:p>
        </p:txBody>
      </p:sp>
      <p:sp>
        <p:nvSpPr>
          <p:cNvPr id="13" name="tecla-202"/>
          <p:cNvSpPr txBox="1"/>
          <p:nvPr/>
        </p:nvSpPr>
        <p:spPr>
          <a:xfrm>
            <a:off x="6217920" y="2606040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14" name="texto-203"/>
          <p:cNvSpPr txBox="1"/>
          <p:nvPr/>
        </p:nvSpPr>
        <p:spPr>
          <a:xfrm>
            <a:off x="6995160" y="25603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Auditor verifica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nó no_tre_sp adulterado</a:t>
            </a:r>
            <a:endParaRPr lang="en-US" sz="1700" dirty="0"/>
          </a:p>
        </p:txBody>
      </p:sp>
      <p:sp>
        <p:nvSpPr>
          <p:cNvPr id="15" name="tecla-204"/>
          <p:cNvSpPr txBox="1"/>
          <p:nvPr/>
        </p:nvSpPr>
        <p:spPr>
          <a:xfrm>
            <a:off x="6217920" y="3703320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16" name="texto-205"/>
          <p:cNvSpPr txBox="1"/>
          <p:nvPr/>
        </p:nvSpPr>
        <p:spPr>
          <a:xfrm>
            <a:off x="6995160" y="36576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Junta repara e apura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frase-senha da Junta</a:t>
            </a:r>
            <a:endParaRPr lang="en-US" sz="1700" dirty="0"/>
          </a:p>
        </p:txBody>
      </p:sp>
      <p:sp>
        <p:nvSpPr>
          <p:cNvPr id="17" name="tecla-206"/>
          <p:cNvSpPr txBox="1"/>
          <p:nvPr/>
        </p:nvSpPr>
        <p:spPr>
          <a:xfrm>
            <a:off x="6217920" y="4800600"/>
            <a:ext cx="566928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18" name="texto-207"/>
          <p:cNvSpPr txBox="1"/>
          <p:nvPr/>
        </p:nvSpPr>
        <p:spPr>
          <a:xfrm>
            <a:off x="6995160" y="47548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Público confere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verificação no navegador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Limitações e próximos passos</a:t>
            </a:r>
            <a:endParaRPr lang="en-US" sz="3400" dirty="0"/>
          </a:p>
        </p:txBody>
      </p:sp>
      <p:sp>
        <p:nvSpPr>
          <p:cNvPr id="3" name="cartao-208"/>
          <p:cNvSpPr/>
          <p:nvPr/>
        </p:nvSpPr>
        <p:spPr>
          <a:xfrm>
            <a:off x="548640" y="1463040"/>
            <a:ext cx="11064240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9525">
            <a:solidFill>
              <a:srgbClr val="D3D8D2"/>
            </a:solidFill>
            <a:prstDash val="solid"/>
          </a:ln>
        </p:spPr>
      </p:sp>
      <p:sp>
        <p:nvSpPr>
          <p:cNvPr id="4" name="texto-209"/>
          <p:cNvSpPr txBox="1"/>
          <p:nvPr/>
        </p:nvSpPr>
        <p:spPr>
          <a:xfrm>
            <a:off x="822960" y="146304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Chave da Junta única</a:t>
            </a:r>
            <a:endParaRPr lang="en-US" sz="1700" dirty="0"/>
          </a:p>
        </p:txBody>
      </p:sp>
      <p:sp>
        <p:nvSpPr>
          <p:cNvPr id="5" name="texto-210"/>
          <p:cNvSpPr txBox="1"/>
          <p:nvPr/>
        </p:nvSpPr>
        <p:spPr>
          <a:xfrm>
            <a:off x="4937760" y="1463040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Dividir com Shamir Secret Sharing: k de n membros para apurar</a:t>
            </a:r>
            <a:endParaRPr lang="en-US" sz="1600" dirty="0"/>
          </a:p>
        </p:txBody>
      </p:sp>
      <p:sp>
        <p:nvSpPr>
          <p:cNvPr id="6" name="cartao-211"/>
          <p:cNvSpPr/>
          <p:nvPr/>
        </p:nvSpPr>
        <p:spPr>
          <a:xfrm>
            <a:off x="548640" y="2359152"/>
            <a:ext cx="11064240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9525">
            <a:solidFill>
              <a:srgbClr val="D3D8D2"/>
            </a:solidFill>
            <a:prstDash val="solid"/>
          </a:ln>
        </p:spPr>
      </p:sp>
      <p:sp>
        <p:nvSpPr>
          <p:cNvPr id="7" name="texto-212"/>
          <p:cNvSpPr txBox="1"/>
          <p:nvPr/>
        </p:nvSpPr>
        <p:spPr>
          <a:xfrm>
            <a:off x="822960" y="2359152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Chave de assinatura em arquivo</a:t>
            </a:r>
            <a:endParaRPr lang="en-US" sz="1700" dirty="0"/>
          </a:p>
        </p:txBody>
      </p:sp>
      <p:sp>
        <p:nvSpPr>
          <p:cNvPr id="8" name="texto-213"/>
          <p:cNvSpPr txBox="1"/>
          <p:nvPr/>
        </p:nvSpPr>
        <p:spPr>
          <a:xfrm>
            <a:off x="4937760" y="2359152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Guardar em HSM ou KMS de nuvem</a:t>
            </a:r>
            <a:endParaRPr lang="en-US" sz="1600" dirty="0"/>
          </a:p>
        </p:txBody>
      </p:sp>
      <p:sp>
        <p:nvSpPr>
          <p:cNvPr id="9" name="cartao-214"/>
          <p:cNvSpPr/>
          <p:nvPr/>
        </p:nvSpPr>
        <p:spPr>
          <a:xfrm>
            <a:off x="548640" y="3255264"/>
            <a:ext cx="11064240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9525">
            <a:solidFill>
              <a:srgbClr val="D3D8D2"/>
            </a:solidFill>
            <a:prstDash val="solid"/>
          </a:ln>
        </p:spPr>
      </p:sp>
      <p:sp>
        <p:nvSpPr>
          <p:cNvPr id="10" name="texto-215"/>
          <p:cNvSpPr txBox="1"/>
          <p:nvPr/>
        </p:nvSpPr>
        <p:spPr>
          <a:xfrm>
            <a:off x="822960" y="3255264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Uma instância da API</a:t>
            </a:r>
            <a:endParaRPr lang="en-US" sz="1700" dirty="0"/>
          </a:p>
        </p:txBody>
      </p:sp>
      <p:sp>
        <p:nvSpPr>
          <p:cNvPr id="11" name="texto-216"/>
          <p:cNvSpPr txBox="1"/>
          <p:nvPr/>
        </p:nvSpPr>
        <p:spPr>
          <a:xfrm>
            <a:off x="4937760" y="3255264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Lock distribuído para ordenar blocos com várias instâncias</a:t>
            </a:r>
            <a:endParaRPr lang="en-US" sz="1600" dirty="0"/>
          </a:p>
        </p:txBody>
      </p:sp>
      <p:sp>
        <p:nvSpPr>
          <p:cNvPr id="12" name="cartao-217"/>
          <p:cNvSpPr/>
          <p:nvPr/>
        </p:nvSpPr>
        <p:spPr>
          <a:xfrm>
            <a:off x="548640" y="4151376"/>
            <a:ext cx="11064240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9525">
            <a:solidFill>
              <a:srgbClr val="D3D8D2"/>
            </a:solidFill>
            <a:prstDash val="solid"/>
          </a:ln>
        </p:spPr>
      </p:sp>
      <p:sp>
        <p:nvSpPr>
          <p:cNvPr id="13" name="texto-218"/>
          <p:cNvSpPr txBox="1"/>
          <p:nvPr/>
        </p:nvSpPr>
        <p:spPr>
          <a:xfrm>
            <a:off x="822960" y="4151376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Nós no mesmo servidor por padrão</a:t>
            </a:r>
            <a:endParaRPr lang="en-US" sz="1700" dirty="0"/>
          </a:p>
        </p:txBody>
      </p:sp>
      <p:sp>
        <p:nvSpPr>
          <p:cNvPr id="14" name="texto-219"/>
          <p:cNvSpPr txBox="1"/>
          <p:nvPr/>
        </p:nvSpPr>
        <p:spPr>
          <a:xfrm>
            <a:off x="4937760" y="4151376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Apontar cada nó para um cluster MongoDB em outra região</a:t>
            </a:r>
            <a:endParaRPr lang="en-US" sz="1600" dirty="0"/>
          </a:p>
        </p:txBody>
      </p:sp>
      <p:sp>
        <p:nvSpPr>
          <p:cNvPr id="15" name="cartao-220"/>
          <p:cNvSpPr/>
          <p:nvPr/>
        </p:nvSpPr>
        <p:spPr>
          <a:xfrm>
            <a:off x="548640" y="5047488"/>
            <a:ext cx="11064240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9525">
            <a:solidFill>
              <a:srgbClr val="D3D8D2"/>
            </a:solidFill>
            <a:prstDash val="solid"/>
          </a:ln>
        </p:spPr>
      </p:sp>
      <p:sp>
        <p:nvSpPr>
          <p:cNvPr id="16" name="texto-221"/>
          <p:cNvSpPr txBox="1"/>
          <p:nvPr/>
        </p:nvSpPr>
        <p:spPr>
          <a:xfrm>
            <a:off x="822960" y="504748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Correlação por horário</a:t>
            </a:r>
            <a:endParaRPr lang="en-US" sz="1700" dirty="0"/>
          </a:p>
        </p:txBody>
      </p:sp>
      <p:sp>
        <p:nvSpPr>
          <p:cNvPr id="17" name="texto-222"/>
          <p:cNvSpPr txBox="1"/>
          <p:nvPr/>
        </p:nvSpPr>
        <p:spPr>
          <a:xfrm>
            <a:off x="4937760" y="5047488"/>
            <a:ext cx="6492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Embaralhar votos em lote (mixnet) antes de gravar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Perguntas?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5468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Para rodar o sistema:</a:t>
            </a:r>
            <a:endParaRPr lang="en-US" sz="2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2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seed</a:t>
            </a:r>
            <a:endParaRPr lang="en-US" sz="2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2000" dirty="0"/>
          </a:p>
        </p:txBody>
      </p:sp>
      <p:sp>
        <p:nvSpPr>
          <p:cNvPr id="4" name="tecla-223"/>
          <p:cNvSpPr txBox="1"/>
          <p:nvPr/>
        </p:nvSpPr>
        <p:spPr>
          <a:xfrm>
            <a:off x="7498080" y="201168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2A548C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Sigilo</a:t>
            </a:r>
            <a:endParaRPr lang="en-US" sz="2200" dirty="0"/>
          </a:p>
        </p:txBody>
      </p:sp>
      <p:sp>
        <p:nvSpPr>
          <p:cNvPr id="5" name="tecla-224"/>
          <p:cNvSpPr txBox="1"/>
          <p:nvPr/>
        </p:nvSpPr>
        <p:spPr>
          <a:xfrm>
            <a:off x="7498080" y="3063240"/>
            <a:ext cx="384048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Integridade</a:t>
            </a:r>
            <a:endParaRPr lang="en-US" sz="2200" dirty="0"/>
          </a:p>
        </p:txBody>
      </p:sp>
      <p:sp>
        <p:nvSpPr>
          <p:cNvPr id="6" name="tecla-225"/>
          <p:cNvSpPr txBox="1"/>
          <p:nvPr/>
        </p:nvSpPr>
        <p:spPr>
          <a:xfrm>
            <a:off x="7498080" y="4114800"/>
            <a:ext cx="3840480" cy="777240"/>
          </a:xfrm>
          <a:prstGeom prst="roundRect">
            <a:avLst>
              <a:gd name="adj" fmla="val 9412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3175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rna Segura">
  <a:themeElements>
    <a:clrScheme name="Urna Segura">
      <a:dk1>
        <a:srgbClr val="1E272C"/>
      </a:dk1>
      <a:lt1>
        <a:srgbClr val="FFFFFF"/>
      </a:lt1>
      <a:dk2>
        <a:srgbClr val="1D3F6E"/>
      </a:dk2>
      <a:lt2>
        <a:srgbClr val="EEF1EE"/>
      </a:lt2>
      <a:accent1>
        <a:srgbClr val="1D3F6E"/>
      </a:accent1>
      <a:accent2>
        <a:srgbClr val="2F8F45"/>
      </a:accent2>
      <a:accent3>
        <a:srgbClr val="E07A1F"/>
      </a:accent3>
      <a:accent4>
        <a:srgbClr val="B3261E"/>
      </a:accent4>
      <a:accent5>
        <a:srgbClr val="D6D0C2"/>
      </a:accent5>
      <a:accent6>
        <a:srgbClr val="55626A"/>
      </a:accent6>
      <a:hlink>
        <a:srgbClr val="1D3F6E"/>
      </a:hlink>
      <a:folHlink>
        <a:srgbClr val="55626A"/>
      </a:folHlink>
    </a:clrScheme>
    <a:fontScheme name="Urna Segur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Urna Segura — requisitos de segurança</dc:title>
  <dc:subject>PptxGenJS Presentation</dc:subject>
  <dc:creator>Seminário de Segurança</dc:creator>
  <cp:lastModifiedBy>Seminário de Segurança</cp:lastModifiedBy>
  <cp:revision>1</cp:revision>
  <dcterms:created xsi:type="dcterms:W3CDTF">2026-10-08T19:14:47Z</dcterms:created>
  <dcterms:modified xsi:type="dcterms:W3CDTF">2026-10-08T19:14:47Z</dcterms:modified>
</cp:coreProperties>
</file>